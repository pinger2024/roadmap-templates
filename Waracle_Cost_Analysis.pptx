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1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Waracle Affordability Calculator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5F0EB"/>
                </a:solidFill>
              </a:defRPr>
            </a:pPr>
            <a:r>
              <a:t>Cost Analysis: In-House Development vs External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C5C7A"/>
                </a:solidFill>
              </a:defRPr>
            </a:pPr>
            <a:r>
              <a:t>January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0" y="5669280"/>
            <a:ext cx="4876495" cy="731520"/>
          </a:xfrm>
          <a:prstGeom prst="roundRect">
            <a:avLst/>
          </a:prstGeom>
          <a:solidFill>
            <a:srgbClr val="36B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0" y="5806440"/>
            <a:ext cx="48764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Year 1 Saving: Up to £181k (88%)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D1D4D"/>
                </a:solidFill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C5C7A"/>
                </a:solidFill>
              </a:defRPr>
            </a:pPr>
            <a:r>
              <a:t>Built in-house for a fraction of external costs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2651760" cy="1280160"/>
          </a:xfrm>
          <a:prstGeom prst="roundRect">
            <a:avLst/>
          </a:prstGeom>
          <a:solidFill>
            <a:srgbClr val="1D1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26517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£24,518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48840"/>
            <a:ext cx="2651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In-House Cost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1280160"/>
            <a:ext cx="2651760" cy="1280160"/>
          </a:xfrm>
          <a:prstGeom prst="roundRect">
            <a:avLst/>
          </a:prstGeom>
          <a:solidFill>
            <a:srgbClr val="E5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0" y="1463040"/>
            <a:ext cx="26517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£205,548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2148840"/>
            <a:ext cx="2651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External Cost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280160"/>
            <a:ext cx="2651760" cy="1280160"/>
          </a:xfrm>
          <a:prstGeom prst="roundRect">
            <a:avLst/>
          </a:prstGeom>
          <a:solidFill>
            <a:srgbClr val="36B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1463040"/>
            <a:ext cx="26517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£181,030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2148840"/>
            <a:ext cx="2651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Year 1 Saving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0" y="1280160"/>
            <a:ext cx="2651760" cy="1280160"/>
          </a:xfrm>
          <a:prstGeom prst="roundRect">
            <a:avLst/>
          </a:prstGeom>
          <a:solidFill>
            <a:srgbClr val="36B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0" y="1463040"/>
            <a:ext cx="26517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88%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2148840"/>
            <a:ext cx="2651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Saving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926080"/>
            <a:ext cx="5394960" cy="3474720"/>
          </a:xfrm>
          <a:prstGeom prst="roundRect">
            <a:avLst/>
          </a:prstGeom>
          <a:solidFill>
            <a:srgbClr val="E6EEF5"/>
          </a:solidFill>
          <a:ln w="25400">
            <a:solidFill>
              <a:srgbClr val="1D1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48640" y="3017520"/>
            <a:ext cx="5212080" cy="457200"/>
          </a:xfrm>
          <a:prstGeom prst="roundRect">
            <a:avLst/>
          </a:prstGeom>
          <a:solidFill>
            <a:srgbClr val="E5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063240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If Outsourced to Podium (Realistic)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61188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D1D4D"/>
                </a:solidFill>
              </a:defRPr>
            </a:pPr>
            <a:r>
              <a:t>Build Cost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36118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1D1D4D"/>
                </a:solidFill>
              </a:defRPr>
            </a:pPr>
            <a:r>
              <a:t>£75,000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97764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D1D4D"/>
                </a:solidFill>
              </a:defRPr>
            </a:pPr>
            <a:r>
              <a:t>Annual Hosting/Support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0" y="39776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1D1D4D"/>
                </a:solidFill>
              </a:defRPr>
            </a:pPr>
            <a:r>
              <a:t>£120,000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34340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C5C7A"/>
                </a:solidFill>
              </a:defRPr>
            </a:pPr>
            <a:r>
              <a:t>(£10k/month x 12)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70916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D1D4D"/>
                </a:solidFill>
              </a:defRPr>
            </a:pPr>
            <a:r>
              <a:t>Waracle FSMA Changes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0" y="470916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1D1D4D"/>
                </a:solidFill>
              </a:defRPr>
            </a:pPr>
            <a:r>
              <a:t>£10,548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5394960"/>
            <a:ext cx="5029200" cy="365760"/>
          </a:xfrm>
          <a:prstGeom prst="rect">
            <a:avLst/>
          </a:prstGeom>
          <a:solidFill>
            <a:srgbClr val="1D1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54406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TOTAL YEAR 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80" y="54406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</a:defRPr>
            </a:pPr>
            <a:r>
              <a:t>£205,548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2926080"/>
            <a:ext cx="5394960" cy="3474720"/>
          </a:xfrm>
          <a:prstGeom prst="roundRect">
            <a:avLst/>
          </a:prstGeom>
          <a:solidFill>
            <a:srgbClr val="E6EEF5"/>
          </a:solidFill>
          <a:ln w="25400">
            <a:solidFill>
              <a:srgbClr val="36B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400800" y="3017520"/>
            <a:ext cx="5212080" cy="457200"/>
          </a:xfrm>
          <a:prstGeom prst="roundRect">
            <a:avLst/>
          </a:prstGeom>
          <a:solidFill>
            <a:srgbClr val="36B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3063240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Built In-House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361188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D1D4D"/>
                </a:solidFill>
              </a:defRPr>
            </a:pPr>
            <a:r>
              <a:t>Developer (75%)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92640" y="36118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1D1D4D"/>
                </a:solidFill>
              </a:defRPr>
            </a:pPr>
            <a:r>
              <a:t>£7,718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397764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D1D4D"/>
                </a:solidFill>
              </a:defRPr>
            </a:pPr>
            <a:r>
              <a:t>BA (25%)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92640" y="39776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1D1D4D"/>
                </a:solidFill>
              </a:defRPr>
            </a:pPr>
            <a:r>
              <a:t>£2,520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434340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D1D4D"/>
                </a:solidFill>
              </a:defRPr>
            </a:pPr>
            <a:r>
              <a:t>Tester 1 (100%)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92640" y="434340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1D1D4D"/>
                </a:solidFill>
              </a:defRPr>
            </a:pPr>
            <a:r>
              <a:t>£7,140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0" y="470916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D1D4D"/>
                </a:solidFill>
              </a:defRPr>
            </a:pPr>
            <a:r>
              <a:t>Tester 2 (100%)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92640" y="470916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1D1D4D"/>
                </a:solidFill>
              </a:defRPr>
            </a:pPr>
            <a:r>
              <a:t>£7,140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92240" y="5394960"/>
            <a:ext cx="5029200" cy="365760"/>
          </a:xfrm>
          <a:prstGeom prst="rect">
            <a:avLst/>
          </a:prstGeom>
          <a:solidFill>
            <a:srgbClr val="36B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3680" y="54406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TOTAL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92640" y="54406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</a:defRPr>
            </a:pPr>
            <a:r>
              <a:t>£24,518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D1D4D"/>
                </a:solidFill>
              </a:defRPr>
            </a:pPr>
            <a:r>
              <a:t>In-House Development Costs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C5C7A"/>
                </a:solidFill>
              </a:defRPr>
            </a:pPr>
            <a:r>
              <a:t>Delivered in ~6 weeks (including Christmas)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486400" cy="457200"/>
          </a:xfrm>
          <a:prstGeom prst="roundRect">
            <a:avLst/>
          </a:prstGeom>
          <a:solidFill>
            <a:srgbClr val="1D1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December 2024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1188720"/>
            <a:ext cx="5669280" cy="457200"/>
          </a:xfrm>
          <a:prstGeom prst="roundRect">
            <a:avLst/>
          </a:prstGeom>
          <a:solidFill>
            <a:srgbClr val="2D2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35040" y="1280160"/>
            <a:ext cx="5669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January 2025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1737360"/>
            <a:ext cx="2286000" cy="320040"/>
          </a:xfrm>
          <a:prstGeom prst="roundRect">
            <a:avLst/>
          </a:prstGeom>
          <a:solidFill>
            <a:srgbClr val="E5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0" y="178308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Christmas Period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2103120"/>
          <a:ext cx="103327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828800"/>
                <a:gridCol w="2011680"/>
                <a:gridCol w="1371600"/>
                <a:gridCol w="1097280"/>
                <a:gridCol w="1463040"/>
                <a:gridCol w="128016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Resource</a:t>
                      </a:r>
                    </a:p>
                  </a:txBody>
                  <a:tcPr>
                    <a:solidFill>
                      <a:srgbClr val="1D1D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Period</a:t>
                      </a:r>
                    </a:p>
                  </a:txBody>
                  <a:tcPr>
                    <a:solidFill>
                      <a:srgbClr val="1D1D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Time Off</a:t>
                      </a:r>
                    </a:p>
                  </a:txBody>
                  <a:tcPr>
                    <a:solidFill>
                      <a:srgbClr val="1D1D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Working Days</a:t>
                      </a:r>
                    </a:p>
                  </a:txBody>
                  <a:tcPr>
                    <a:solidFill>
                      <a:srgbClr val="1D1D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Allocation</a:t>
                      </a:r>
                    </a:p>
                  </a:txBody>
                  <a:tcPr>
                    <a:solidFill>
                      <a:srgbClr val="1D1D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Effective Days</a:t>
                      </a:r>
                    </a:p>
                  </a:txBody>
                  <a:tcPr>
                    <a:solidFill>
                      <a:srgbClr val="1D1D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Cost</a:t>
                      </a:r>
                    </a:p>
                  </a:txBody>
                  <a:tcPr>
                    <a:solidFill>
                      <a:srgbClr val="1D1D4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D1D4D"/>
                          </a:solidFill>
                        </a:defRPr>
                      </a:pPr>
                      <a:r>
                        <a:t>Developer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D1D4D"/>
                          </a:solidFill>
                        </a:defRPr>
                      </a:pPr>
                      <a:r>
                        <a:t>1 Dec - 15 Jan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D1D4D"/>
                          </a:solidFill>
                        </a:defRPr>
                      </a:pPr>
                      <a:r>
                        <a:t>24 Dec (pm) - 5 Jan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D1D4D"/>
                          </a:solidFill>
                        </a:defRPr>
                      </a:pPr>
                      <a:r>
                        <a:t>24.5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D1D4D"/>
                          </a:solidFill>
                        </a:defRPr>
                      </a:pPr>
                      <a:r>
                        <a:t>75%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D1D4D"/>
                          </a:solidFill>
                        </a:defRPr>
                      </a:pPr>
                      <a:r>
                        <a:t>18.4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D1D4D"/>
                          </a:solidFill>
                        </a:defRPr>
                      </a:pPr>
                      <a:r>
                        <a:t>£7,718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D1D4D"/>
                          </a:solidFill>
                        </a:defRPr>
                      </a:pPr>
                      <a:r>
                        <a:t>BA</a:t>
                      </a:r>
                    </a:p>
                  </a:txBody>
                  <a:tcPr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D1D4D"/>
                          </a:solidFill>
                        </a:defRPr>
                      </a:pPr>
                      <a:r>
                        <a:t>1 Dec - 15 Jan</a:t>
                      </a:r>
                    </a:p>
                  </a:txBody>
                  <a:tcPr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D1D4D"/>
                          </a:solidFill>
                        </a:defRPr>
                      </a:pPr>
                      <a:r>
                        <a:t>22 Dec - 2 Jan</a:t>
                      </a:r>
                    </a:p>
                  </a:txBody>
                  <a:tcPr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D1D4D"/>
                          </a:solidFill>
                        </a:defRPr>
                      </a:pPr>
                      <a:r>
                        <a:t>24</a:t>
                      </a:r>
                    </a:p>
                  </a:txBody>
                  <a:tcPr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D1D4D"/>
                          </a:solidFill>
                        </a:defRPr>
                      </a:pPr>
                      <a:r>
                        <a:t>25%</a:t>
                      </a:r>
                    </a:p>
                  </a:txBody>
                  <a:tcPr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D1D4D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D1D4D"/>
                          </a:solidFill>
                        </a:defRPr>
                      </a:pPr>
                      <a:r>
                        <a:t>£2,520</a:t>
                      </a:r>
                    </a:p>
                  </a:txBody>
                  <a:tcPr>
                    <a:solidFill>
                      <a:srgbClr val="E6EE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D1D4D"/>
                          </a:solidFill>
                        </a:defRPr>
                      </a:pPr>
                      <a:r>
                        <a:t>Tester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D1D4D"/>
                          </a:solidFill>
                        </a:defRPr>
                      </a:pPr>
                      <a:r>
                        <a:t>19 Dec - 15 Jan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D1D4D"/>
                          </a:solidFill>
                        </a:defRPr>
                      </a:pPr>
                      <a:r>
                        <a:t>25-26 Dec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D1D4D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D1D4D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D1D4D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D1D4D"/>
                          </a:solidFill>
                        </a:defRPr>
                      </a:pPr>
                      <a:r>
                        <a:t>£7,140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D1D4D"/>
                          </a:solidFill>
                        </a:defRPr>
                      </a:pPr>
                      <a:r>
                        <a:t>Tester 2</a:t>
                      </a:r>
                    </a:p>
                  </a:txBody>
                  <a:tcPr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D1D4D"/>
                          </a:solidFill>
                        </a:defRPr>
                      </a:pPr>
                      <a:r>
                        <a:t>19 Dec - 15 Jan</a:t>
                      </a:r>
                    </a:p>
                  </a:txBody>
                  <a:tcPr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D1D4D"/>
                          </a:solidFill>
                        </a:defRPr>
                      </a:pPr>
                      <a:r>
                        <a:t>25-26 Dec only</a:t>
                      </a:r>
                    </a:p>
                  </a:txBody>
                  <a:tcPr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D1D4D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D1D4D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D1D4D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D1D4D"/>
                          </a:solidFill>
                        </a:defRPr>
                      </a:pPr>
                      <a:r>
                        <a:t>£7,140</a:t>
                      </a:r>
                    </a:p>
                  </a:txBody>
                  <a:tcPr>
                    <a:solidFill>
                      <a:srgbClr val="E6EE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36B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36B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36B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36B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36B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36B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£24,518</a:t>
                      </a:r>
                    </a:p>
                  </a:txBody>
                  <a:tcPr>
                    <a:solidFill>
                      <a:srgbClr val="36B37E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438912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5C5C7A"/>
                </a:solidFill>
              </a:defRPr>
            </a:pPr>
            <a:r>
              <a:t>Day rate: £420 per day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937760"/>
            <a:ext cx="11277295" cy="1645920"/>
          </a:xfrm>
          <a:prstGeom prst="roundRect">
            <a:avLst/>
          </a:prstGeom>
          <a:solidFill>
            <a:srgbClr val="E6EEF5"/>
          </a:solidFill>
          <a:ln w="25400">
            <a:solidFill>
              <a:srgbClr val="1D1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50749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D1D4D"/>
                </a:solidFill>
              </a:defRPr>
            </a:pPr>
            <a:r>
              <a:t>Key Points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4406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D1D4D"/>
                </a:solidFill>
              </a:defRPr>
            </a:pPr>
            <a:r>
              <a:t>• Testers worked through Christmas (minus bank holidays) - maintained momentum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80644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D1D4D"/>
                </a:solidFill>
              </a:defRPr>
            </a:pPr>
            <a:r>
              <a:t>• Developer and BA had planned leave - project still delivered on 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1722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D1D4D"/>
                </a:solidFill>
              </a:defRPr>
            </a:pPr>
            <a:r>
              <a:t>• Successfully tested and signed off by 15th January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D1D4D"/>
                </a:solidFill>
              </a:defRPr>
            </a:pPr>
            <a:r>
              <a:t>External Costs Avoided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C5C7A"/>
                </a:solidFill>
              </a:defRPr>
            </a:pPr>
            <a:r>
              <a:t>What we would have paid to outsource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3566160" cy="2560320"/>
          </a:xfrm>
          <a:prstGeom prst="roundRect">
            <a:avLst/>
          </a:prstGeom>
          <a:solidFill>
            <a:srgbClr val="E6EEF5"/>
          </a:solidFill>
          <a:ln w="38100">
            <a:solidFill>
              <a:srgbClr val="E50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3566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D1D4D"/>
                </a:solidFill>
              </a:defRPr>
            </a:pPr>
            <a:r>
              <a:t>3rd Party Build</a:t>
            </a:r>
            <a:br/>
            <a:r>
              <a:t>(Podium Quote)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94560"/>
            <a:ext cx="3566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E50050"/>
                </a:solidFill>
              </a:defRPr>
            </a:pPr>
            <a:r>
              <a:t>£45k - £75k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17520"/>
            <a:ext cx="3566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5C5C7A"/>
                </a:solidFill>
              </a:defRPr>
            </a:pPr>
            <a:r>
              <a:t>One-off development cost</a:t>
            </a:r>
            <a:br/>
            <a:r>
              <a:t>(realistically upper end)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280160"/>
            <a:ext cx="3566160" cy="2560320"/>
          </a:xfrm>
          <a:prstGeom prst="roundRect">
            <a:avLst/>
          </a:prstGeom>
          <a:solidFill>
            <a:srgbClr val="E6EEF5"/>
          </a:solidFill>
          <a:ln w="38100">
            <a:solidFill>
              <a:srgbClr val="FF8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0" y="1463040"/>
            <a:ext cx="3566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D1D4D"/>
                </a:solidFill>
              </a:defRPr>
            </a:pPr>
            <a:r>
              <a:t>Hosting, Support,</a:t>
            </a:r>
            <a:br/>
            <a:r>
              <a:t>Maintenance &amp; Updates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2194560"/>
            <a:ext cx="3566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8B00"/>
                </a:solidFill>
              </a:defRPr>
            </a:pPr>
            <a:r>
              <a:t>£5k - £10k</a:t>
            </a:r>
            <a:br/>
            <a:r>
              <a:t>per month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3017520"/>
            <a:ext cx="3566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5C5C7A"/>
                </a:solidFill>
              </a:defRPr>
            </a:pPr>
            <a:r>
              <a:t>= £60k - £120k annually</a:t>
            </a:r>
            <a:br/>
            <a:r>
              <a:t>(ongoing commitment)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280160"/>
            <a:ext cx="3566160" cy="2560320"/>
          </a:xfrm>
          <a:prstGeom prst="roundRect">
            <a:avLst/>
          </a:prstGeom>
          <a:solidFill>
            <a:srgbClr val="E6EEF5"/>
          </a:solidFill>
          <a:ln w="38100">
            <a:solidFill>
              <a:srgbClr val="1D1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1463040"/>
            <a:ext cx="3566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D1D4D"/>
                </a:solidFill>
              </a:defRPr>
            </a:pPr>
            <a:r>
              <a:t>Waracle FSMA</a:t>
            </a:r>
            <a:br/>
            <a:r>
              <a:t>Changes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194560"/>
            <a:ext cx="3566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D1D4D"/>
                </a:solidFill>
              </a:defRPr>
            </a:pPr>
            <a:r>
              <a:t>£10,548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3017520"/>
            <a:ext cx="3566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5C5C7A"/>
                </a:solidFill>
              </a:defRPr>
            </a:pPr>
            <a:r>
              <a:t>No longer required</a:t>
            </a:r>
            <a:br/>
            <a:r>
              <a:t>(avoided completely)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206240"/>
            <a:ext cx="5486400" cy="1097280"/>
          </a:xfrm>
          <a:prstGeom prst="roundRect">
            <a:avLst/>
          </a:prstGeom>
          <a:solidFill>
            <a:srgbClr val="F5F0EB"/>
          </a:solidFill>
          <a:ln w="12700">
            <a:solidFill>
              <a:srgbClr val="1D1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3434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5C5C7A"/>
                </a:solidFill>
              </a:defRPr>
            </a:pPr>
            <a:r>
              <a:t>LOW ESTIMATE (Year 1)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66344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5C5C7A"/>
                </a:solidFill>
              </a:defRPr>
            </a:pPr>
            <a:r>
              <a:t>£45k + £60k + £10.5k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93776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D1D4D"/>
                </a:solidFill>
              </a:defRPr>
            </a:pPr>
            <a:r>
              <a:t>= £115,548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4206240"/>
            <a:ext cx="5486400" cy="1097280"/>
          </a:xfrm>
          <a:prstGeom prst="roundRect">
            <a:avLst/>
          </a:prstGeom>
          <a:solidFill>
            <a:srgbClr val="E5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43434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REALISTIC ESTIMATE (Year 1)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466344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F5F0EB"/>
                </a:solidFill>
              </a:defRPr>
            </a:pPr>
            <a:r>
              <a:t>£75k + £120k + £10.5k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493776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= £205,548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5577840"/>
            <a:ext cx="11277295" cy="1005840"/>
          </a:xfrm>
          <a:prstGeom prst="roundRect">
            <a:avLst/>
          </a:prstGeom>
          <a:solidFill>
            <a:srgbClr val="E6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71500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5C5C7A"/>
                </a:solidFill>
              </a:defRPr>
            </a:pPr>
            <a:r>
              <a:t>Note: External quotes often exclude hidden costs such as change requests, scope adjustments,</a:t>
            </a:r>
            <a:br/>
            <a:r>
              <a:t>project management overhead, and integration work. Actual costs typically exceed initial quotes.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D1D4D"/>
                </a:solidFill>
              </a:defRPr>
            </a:pPr>
            <a:r>
              <a:t>Multi-Year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C5C7A"/>
                </a:solidFill>
              </a:defRPr>
            </a:pPr>
            <a:r>
              <a:t>Savings compound over time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042416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194560"/>
                <a:gridCol w="2194560"/>
                <a:gridCol w="2194560"/>
                <a:gridCol w="246888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D1D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External Cost</a:t>
                      </a:r>
                    </a:p>
                  </a:txBody>
                  <a:tcPr>
                    <a:solidFill>
                      <a:srgbClr val="1D1D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In-House Cost</a:t>
                      </a:r>
                    </a:p>
                  </a:txBody>
                  <a:tcPr>
                    <a:solidFill>
                      <a:srgbClr val="1D1D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Annual Saving</a:t>
                      </a:r>
                    </a:p>
                  </a:txBody>
                  <a:tcPr>
                    <a:solidFill>
                      <a:srgbClr val="1D1D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Cumulative Saving</a:t>
                      </a:r>
                    </a:p>
                  </a:txBody>
                  <a:tcPr>
                    <a:solidFill>
                      <a:srgbClr val="1D1D4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D1D4D"/>
                          </a:solidFill>
                        </a:defRPr>
                      </a:pPr>
                      <a:r>
                        <a:t>Year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D1D4D"/>
                          </a:solidFill>
                        </a:defRPr>
                      </a:pPr>
                      <a:r>
                        <a:t>£205,548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D1D4D"/>
                          </a:solidFill>
                        </a:defRPr>
                      </a:pPr>
                      <a:r>
                        <a:t>£23,100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D1D4D"/>
                          </a:solidFill>
                        </a:defRPr>
                      </a:pPr>
                      <a:r>
                        <a:t>£182,448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36B37E"/>
                          </a:solidFill>
                        </a:defRPr>
                      </a:pPr>
                      <a:r>
                        <a:t>£182,448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D1D4D"/>
                          </a:solidFill>
                        </a:defRPr>
                      </a:pPr>
                      <a:r>
                        <a:t>Year 2</a:t>
                      </a:r>
                    </a:p>
                  </a:txBody>
                  <a:tcPr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D1D4D"/>
                          </a:solidFill>
                        </a:defRPr>
                      </a:pPr>
                      <a:r>
                        <a:t>£120,000</a:t>
                      </a:r>
                    </a:p>
                  </a:txBody>
                  <a:tcPr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D1D4D"/>
                          </a:solidFill>
                        </a:defRPr>
                      </a:pPr>
                      <a:r>
                        <a:t>£0</a:t>
                      </a:r>
                    </a:p>
                  </a:txBody>
                  <a:tcPr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D1D4D"/>
                          </a:solidFill>
                        </a:defRPr>
                      </a:pPr>
                      <a:r>
                        <a:t>£120,000</a:t>
                      </a:r>
                    </a:p>
                  </a:txBody>
                  <a:tcPr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36B37E"/>
                          </a:solidFill>
                        </a:defRPr>
                      </a:pPr>
                      <a:r>
                        <a:t>£302,448</a:t>
                      </a:r>
                    </a:p>
                  </a:txBody>
                  <a:tcPr>
                    <a:solidFill>
                      <a:srgbClr val="E6EE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D1D4D"/>
                          </a:solidFill>
                        </a:defRPr>
                      </a:pPr>
                      <a:r>
                        <a:t>Year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D1D4D"/>
                          </a:solidFill>
                        </a:defRPr>
                      </a:pPr>
                      <a:r>
                        <a:t>£120,000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D1D4D"/>
                          </a:solidFill>
                        </a:defRPr>
                      </a:pPr>
                      <a:r>
                        <a:t>£0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D1D4D"/>
                          </a:solidFill>
                        </a:defRPr>
                      </a:pPr>
                      <a:r>
                        <a:t>£120,000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36B37E"/>
                          </a:solidFill>
                        </a:defRPr>
                      </a:pPr>
                      <a:r>
                        <a:t>£422,448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2286000" y="3657600"/>
            <a:ext cx="7619695" cy="1645920"/>
          </a:xfrm>
          <a:prstGeom prst="roundRect">
            <a:avLst/>
          </a:prstGeom>
          <a:solidFill>
            <a:srgbClr val="36B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0" y="3840480"/>
            <a:ext cx="76196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3-Year Cumulative Saving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4206240"/>
            <a:ext cx="76196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£422,448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77295" cy="1097280"/>
          </a:xfrm>
          <a:prstGeom prst="roundRect">
            <a:avLst/>
          </a:prstGeom>
          <a:solidFill>
            <a:srgbClr val="E6EEF5"/>
          </a:solidFill>
          <a:ln w="25400">
            <a:solidFill>
              <a:srgbClr val="1D1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6235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D1D4D"/>
                </a:solidFill>
              </a:defRPr>
            </a:pPr>
            <a:r>
              <a:t>Why This Matters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943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D1D4D"/>
                </a:solidFill>
              </a:defRPr>
            </a:pPr>
            <a:r>
              <a:t>The £120k/year ongoing hosting and support cost from a 3rd party would have been a permanent drain.</a:t>
            </a:r>
            <a:br/>
            <a:r>
              <a:t>By building in-house, we've eliminated that recurring cost entirely while building internal capability.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1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Summary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265176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2651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1D1D4D"/>
                </a:solidFill>
              </a:defRPr>
            </a:pPr>
            <a:r>
              <a:t>£24,518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77440"/>
            <a:ext cx="2651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D1D4D"/>
                </a:solidFill>
              </a:defRPr>
            </a:pPr>
            <a:r>
              <a:t>In-House Build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97480"/>
            <a:ext cx="2651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5C5C7A"/>
                </a:solidFill>
              </a:defRPr>
            </a:pPr>
            <a:r>
              <a:t>~6 weeks delivery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1645920"/>
            <a:ext cx="265176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1828800"/>
            <a:ext cx="2651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1D1D4D"/>
                </a:solidFill>
              </a:defRPr>
            </a:pPr>
            <a:r>
              <a:t>£205,548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377440"/>
            <a:ext cx="2651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D1D4D"/>
                </a:solidFill>
              </a:defRPr>
            </a:pPr>
            <a:r>
              <a:t>External Alternative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2697480"/>
            <a:ext cx="2651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5C5C7A"/>
                </a:solidFill>
              </a:defRPr>
            </a:pPr>
            <a:r>
              <a:t>Year 1 (realistic)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645920"/>
            <a:ext cx="265176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1828800"/>
            <a:ext cx="2651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1D1D4D"/>
                </a:solidFill>
              </a:defRPr>
            </a:pPr>
            <a:r>
              <a:t>£181,030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2377440"/>
            <a:ext cx="2651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D1D4D"/>
                </a:solidFill>
              </a:defRPr>
            </a:pPr>
            <a:r>
              <a:t>Year 1 Saving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2697480"/>
            <a:ext cx="2651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5C5C7A"/>
                </a:solidFill>
              </a:defRPr>
            </a:pPr>
            <a:r>
              <a:t>88% cost reduction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20" y="1645920"/>
            <a:ext cx="265176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0" y="1828800"/>
            <a:ext cx="2651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1D1D4D"/>
                </a:solidFill>
              </a:defRPr>
            </a:pPr>
            <a:r>
              <a:t>£120,000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2377440"/>
            <a:ext cx="2651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D1D4D"/>
                </a:solidFill>
              </a:defRPr>
            </a:pPr>
            <a:r>
              <a:t>Ongoing Annual Saving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2697480"/>
            <a:ext cx="2651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5C5C7A"/>
                </a:solidFill>
              </a:defRPr>
            </a:pPr>
            <a:r>
              <a:t>No 3rd party lock-in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47472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5F0EB"/>
                </a:solidFill>
              </a:defRPr>
            </a:pPr>
            <a:r>
              <a:t>Benefits of In-House Development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4023360"/>
            <a:ext cx="85340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✓  No ongoing 3rd party hosting/support costs (avoided £10k/month)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4434840"/>
            <a:ext cx="85340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✓  No external dependency for future changes or FSMA compliance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4846320"/>
            <a:ext cx="85340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✓  Built internal capability and knowledge retention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5257800"/>
            <a:ext cx="85340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✓  Faster turnaround for future enhancements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5669280"/>
            <a:ext cx="85340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✓  Full control over the codebase and roadmap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828800" y="5852160"/>
            <a:ext cx="8534095" cy="731520"/>
          </a:xfrm>
          <a:prstGeom prst="roundRect">
            <a:avLst/>
          </a:prstGeom>
          <a:solidFill>
            <a:srgbClr val="36B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828800" y="5989320"/>
            <a:ext cx="85340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7:1 Return on Investment in Year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