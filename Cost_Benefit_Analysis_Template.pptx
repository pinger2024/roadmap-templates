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Cost-Benefit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In-House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FFFFFF"/>
                </a:solidFill>
              </a:defRPr>
            </a:pPr>
            <a:r>
              <a:t>Affordability Calculator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365760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828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Section |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Cost Comparison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D1D4D"/>
                </a:solidFill>
              </a:defRPr>
            </a:pPr>
            <a:r>
              <a:t>Replacing the Waracle Affordability Calculator. Current Waracle support contract (£3,775/month) ends February 2025. In-house go-live targeted for end of February, enabling seamless transition with no renewal required.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External (Realistic)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In-House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Build / Development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£75,000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£24,518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Annual Support &amp; Hosting (replaces Waracle)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£120,000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£0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Waracle FSMA Changes (avoided)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£10,548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D1D4D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1 Total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£205,548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£24,518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572000"/>
            <a:ext cx="10362895" cy="1645920"/>
          </a:xfrm>
          <a:prstGeom prst="roundRect">
            <a:avLst/>
          </a:prstGeom>
          <a:solidFill>
            <a:srgbClr val="D9E8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D1D4D"/>
                </a:solidFill>
              </a:defRPr>
            </a:pPr>
            <a:r>
              <a:t>Year 1 Saving: £181,030 (88% cost reduction)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D1D4D"/>
                </a:solidFill>
              </a:defRPr>
            </a:pPr>
            <a:r>
              <a:t>Saves £3,775/month (£45,300/year) from Waracle contract not renewed, plus avoids £120,000/year Podium costs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365760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828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Section | In-House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In-House Development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D1D4D"/>
                </a:solidFill>
              </a:defRPr>
            </a:pPr>
            <a:r>
              <a:t>Resource allocation and costs for the in-house build (1 December 2024 - 15 January 2025). Day rate: £420.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0241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286000"/>
                <a:gridCol w="1188720"/>
                <a:gridCol w="164592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Resource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Time Off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Allocation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Effective Days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Developer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 Dec - 15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24 Dec (pm) - 5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£7,718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BA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 Dec - 15 Jan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22 Dec - 2 Jan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£2,520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Tester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19 Dec - 15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25-26 Dec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£7,140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Tester 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19 Dec - 15 Jan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25-26 Dec only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£7,140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£24,518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3891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D1D4D"/>
                </a:solidFill>
              </a:defRPr>
            </a:pPr>
            <a:r>
              <a:t>Key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Testers worked through Christmas period (excluding bank holidays) to maintain project momentum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Developer and BA had planned leave - project still delivered on schedule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Successfully tested and signed off by 15th January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365760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828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Section | External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External Costs Avoided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D1D4D"/>
                </a:solidFill>
              </a:defRPr>
            </a:pPr>
            <a:r>
              <a:t>Current Waracle contract: £3,775/month (£45,300/year). Contract ends February 2025. Podium would have replaced Waracle at higher cost.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0241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201168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Cost Item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Low Estimate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Realistic Estimate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Third-party build (Podium)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£75,000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One-off development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Monthly support (replaces Waracle)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£5,000/month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£10,000/month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vs current £3,775/month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Annual support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£60,000/year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£120,000/year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vs current £45,300/year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Waracle FSMA changes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£10,548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£10,548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D1D4D"/>
                          </a:solidFill>
                        </a:defRPr>
                      </a:pPr>
                      <a:r>
                        <a:t>No longer required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Year 1 Total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£115,548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£205,548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Build + support + FSMA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572000"/>
            <a:ext cx="10362895" cy="914400"/>
          </a:xfrm>
          <a:prstGeom prst="roundRect">
            <a:avLst/>
          </a:prstGeom>
          <a:solidFill>
            <a:srgbClr val="D9E8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1D1D4D"/>
                </a:solidFill>
              </a:defRPr>
            </a:pPr>
            <a:r>
              <a:t>Note: External quotes often exclude hidden costs such as change requests, scope adjustments, project management overhead, and integration work. Actual costs typically exceed initial quotes.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365760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828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Section | Multi-Year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Cumulative Savings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D1D4D"/>
                </a:solidFill>
              </a:defRPr>
            </a:pPr>
            <a:r>
              <a:t>In-house go-live end of February 2025 enables Waracle contract to end without renewal. Comparison vs Podium alternative (realistic estimates).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9784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External Cost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In-House Cost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Annual Saving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Cumulative Saving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£205,548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£24,518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£181,030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£181,030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£120,000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£120,000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£301,030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£120,000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£421,030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0" y="3840480"/>
            <a:ext cx="6705295" cy="128016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023360"/>
            <a:ext cx="6705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3-Year Cumulative Saving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389120"/>
            <a:ext cx="6705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£421,030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The £120,000/year ongoing hosting and support cost from a third party would have been a permanent commitment. By building in-house, we have eliminated that recurring cost while building internal capability.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365760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8288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Section |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Summary and Benefits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036289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790895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In-house build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£24,518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External alternative (Year 1)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£205,548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Year 1 saving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£181,030 (88%)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Waracle contract saved (from March)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£3,775/month (£45,300/year)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3-year cumulative saving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£421,030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D1D4D"/>
                          </a:solidFill>
                        </a:defRPr>
                      </a:pPr>
                      <a:r>
                        <a:t>Return on investment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D1D4D"/>
                          </a:solidFill>
                        </a:defRPr>
                      </a:pPr>
                      <a:r>
                        <a:t>7:1 in Year 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062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D1D4D"/>
                </a:solidFill>
              </a:defRPr>
            </a:pPr>
            <a:r>
              <a:t>Additional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Waracle contract ends February 2025 - no renewal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83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No ongoing third-party hosting or support 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No external dependency for future changes or FSMA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Internal capability and knowledge retention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D1D4D"/>
                </a:solidFill>
              </a:defRPr>
            </a:pPr>
            <a:r>
              <a:t>• Full control over codebase and future roadmap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