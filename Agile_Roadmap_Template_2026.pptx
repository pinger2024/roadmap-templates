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09728"/>
            <a:ext cx="320040" cy="320040"/>
          </a:xfrm>
          <a:prstGeom prst="ellipse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Mortgage Systems Value Stream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9999"/>
                </a:solidFill>
              </a:defRPr>
            </a:pPr>
            <a:r>
              <a:t>NBS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914400"/>
            <a:ext cx="3017520" cy="822960"/>
          </a:xfrm>
          <a:prstGeom prst="roundRect">
            <a:avLst/>
          </a:prstGeom>
          <a:noFill/>
          <a:ln w="1905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 i="0">
                <a:solidFill>
                  <a:srgbClr val="1D1D4D"/>
                </a:solidFill>
              </a:defRPr>
            </a:pPr>
            <a:r>
              <a:t>Michael James</a:t>
            </a:r>
          </a:p>
          <a:p>
            <a:pPr algn="ctr">
              <a:defRPr sz="1100" b="0" i="1">
                <a:solidFill>
                  <a:srgbClr val="1D1D4D"/>
                </a:solidFill>
              </a:defRPr>
            </a:pPr>
            <a:r>
              <a:t>Delivery Lead</a:t>
            </a:r>
          </a:p>
          <a:p>
            <a:pPr algn="ctr">
              <a:defRPr sz="1000" b="0" i="1">
                <a:solidFill>
                  <a:srgbClr val="1D1D4D"/>
                </a:solidFill>
              </a:defRPr>
            </a:pPr>
            <a:r>
              <a:t>Value Stream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1737360"/>
            <a:ext cx="18288" cy="45720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2194560"/>
            <a:ext cx="7589520" cy="18288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0" y="2194560"/>
            <a:ext cx="18288" cy="27432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60" y="2194560"/>
            <a:ext cx="18288" cy="27432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0" y="2194560"/>
            <a:ext cx="18288" cy="27432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2468880"/>
            <a:ext cx="3017520" cy="1097280"/>
          </a:xfrm>
          <a:prstGeom prst="roundRect">
            <a:avLst/>
          </a:prstGeom>
          <a:noFill/>
          <a:ln w="1905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 i="0">
                <a:solidFill>
                  <a:srgbClr val="1D1D4D"/>
                </a:solidFill>
              </a:defRPr>
            </a:pPr>
            <a:r>
              <a:t>Growth</a:t>
            </a:r>
          </a:p>
          <a:p>
            <a:pPr algn="ctr">
              <a:defRPr sz="1100" b="0" i="1">
                <a:solidFill>
                  <a:srgbClr val="1D1D4D"/>
                </a:solidFill>
              </a:defRPr>
            </a:pPr>
            <a:r>
              <a:t>Origination</a:t>
            </a:r>
          </a:p>
          <a:p>
            <a:pPr algn="ctr">
              <a:defRPr sz="900" b="0" i="0">
                <a:solidFill>
                  <a:srgbClr val="1D1D4D"/>
                </a:solidFill>
              </a:defRPr>
            </a:pPr>
            <a:r>
              <a:t>Waracle, 10to8, Case Seg*</a:t>
            </a:r>
          </a:p>
          <a:p>
            <a:pPr algn="ctr">
              <a:defRPr sz="800" b="0" i="1">
                <a:solidFill>
                  <a:srgbClr val="888888"/>
                </a:solidFill>
              </a:defRPr>
            </a:pPr>
            <a:r>
              <a:t>*re-prioritised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2468880"/>
            <a:ext cx="3017520" cy="1097280"/>
          </a:xfrm>
          <a:prstGeom prst="roundRect">
            <a:avLst/>
          </a:prstGeom>
          <a:noFill/>
          <a:ln w="1905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 i="0">
                <a:solidFill>
                  <a:srgbClr val="1D1D4D"/>
                </a:solidFill>
              </a:defRPr>
            </a:pPr>
            <a:r>
              <a:t>Brochureware</a:t>
            </a:r>
          </a:p>
          <a:p>
            <a:pPr algn="ctr">
              <a:defRPr sz="1100" b="0" i="1">
                <a:solidFill>
                  <a:srgbClr val="1D1D4D"/>
                </a:solidFill>
              </a:defRPr>
            </a:pPr>
            <a:r>
              <a:t>BAU &amp; Direct Website</a:t>
            </a:r>
          </a:p>
          <a:p>
            <a:pPr algn="ctr">
              <a:defRPr sz="900" b="0" i="0">
                <a:solidFill>
                  <a:srgbClr val="1D1D4D"/>
                </a:solidFill>
              </a:defRPr>
            </a:pPr>
            <a:r>
              <a:t>Re-platform, CBIS Rebrand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2468880"/>
            <a:ext cx="3017520" cy="1097280"/>
          </a:xfrm>
          <a:prstGeom prst="roundRect">
            <a:avLst/>
          </a:prstGeom>
          <a:noFill/>
          <a:ln w="1905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 i="0">
                <a:solidFill>
                  <a:srgbClr val="1D1D4D"/>
                </a:solidFill>
              </a:defRPr>
            </a:pPr>
            <a:r>
              <a:t>SAM Replacement</a:t>
            </a:r>
          </a:p>
          <a:p>
            <a:pPr algn="ctr">
              <a:defRPr sz="1100" b="0" i="1">
                <a:solidFill>
                  <a:srgbClr val="1D1D4D"/>
                </a:solidFill>
              </a:defRPr>
            </a:pPr>
            <a:r>
              <a:t>Graeme Cumming</a:t>
            </a:r>
          </a:p>
          <a:p>
            <a:pPr algn="ctr">
              <a:defRPr sz="900" b="0" i="0">
                <a:solidFill>
                  <a:srgbClr val="1D1D4D"/>
                </a:solidFill>
              </a:defRPr>
            </a:pPr>
            <a:r>
              <a:t>Collate Migration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931920"/>
            <a:ext cx="3657600" cy="2286000"/>
          </a:xfrm>
          <a:prstGeom prst="roundRect">
            <a:avLst/>
          </a:prstGeom>
          <a:solidFill>
            <a:srgbClr val="E6EEF5"/>
          </a:solidFill>
          <a:ln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D1D4D"/>
                </a:solidFill>
              </a:defRPr>
            </a:pPr>
            <a:r>
              <a:t>Growth Team</a:t>
            </a:r>
          </a:p>
          <a:p>
            <a:pPr algn="l">
              <a:defRPr sz="1000">
                <a:solidFill>
                  <a:srgbClr val="1D1D4D"/>
                </a:solidFill>
              </a:defRPr>
            </a:pPr>
            <a:r>
              <a:t>Steven Warner - Senior BA</a:t>
            </a:r>
            <a:br/>
            <a:r>
              <a:t>Chirag Kalra - Scrum Master</a:t>
            </a:r>
            <a:br/>
            <a:r>
              <a:t>Kaushal Soni - Java Dev</a:t>
            </a:r>
            <a:br/>
            <a:r>
              <a:t>Bharath Mahesh - QE</a:t>
            </a:r>
            <a:br/>
            <a:r>
              <a:t>Rahul Yaruva - QE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3931920"/>
            <a:ext cx="3657600" cy="2286000"/>
          </a:xfrm>
          <a:prstGeom prst="roundRect">
            <a:avLst/>
          </a:prstGeom>
          <a:solidFill>
            <a:srgbClr val="E6EEF5"/>
          </a:solidFill>
          <a:ln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D1D4D"/>
                </a:solidFill>
              </a:defRPr>
            </a:pPr>
            <a:r>
              <a:t>Brochureware Team</a:t>
            </a:r>
          </a:p>
          <a:p>
            <a:pPr algn="l">
              <a:defRPr sz="900">
                <a:solidFill>
                  <a:srgbClr val="1D1D4D"/>
                </a:solidFill>
              </a:defRPr>
            </a:pPr>
            <a:r>
              <a:t>Lee Keegan - Senior .NET Dev</a:t>
            </a:r>
            <a:br/>
            <a:r>
              <a:t>Shona Stewart - Senior BA</a:t>
            </a:r>
            <a:br/>
            <a:r>
              <a:t>Craig Studley - BA</a:t>
            </a:r>
            <a:br/>
            <a:r>
              <a:t>Steven Odle - Content Designer</a:t>
            </a:r>
            <a:br/>
            <a:r>
              <a:t>Gopi Doli - .NET Dev</a:t>
            </a:r>
            <a:br/>
            <a:r>
              <a:t>Mandy Rogerson - .NET Dev</a:t>
            </a:r>
            <a:br/>
            <a:r>
              <a:t>Hrushikesh Kadu - QA</a:t>
            </a:r>
            <a:br/>
            <a:r>
              <a:t>Saurabh Mohanrao - QA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3931920"/>
            <a:ext cx="3657600" cy="2286000"/>
          </a:xfrm>
          <a:prstGeom prst="roundRect">
            <a:avLst/>
          </a:prstGeom>
          <a:solidFill>
            <a:srgbClr val="E6EEF5"/>
          </a:solidFill>
          <a:ln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D1D4D"/>
                </a:solidFill>
              </a:defRPr>
            </a:pPr>
            <a:r>
              <a:t>SAM Team</a:t>
            </a:r>
          </a:p>
          <a:p>
            <a:pPr algn="l">
              <a:defRPr sz="1000">
                <a:solidFill>
                  <a:srgbClr val="1D1D4D"/>
                </a:solidFill>
              </a:defRPr>
            </a:pPr>
            <a:r>
              <a:t>Graeme Cumming - Lead</a:t>
            </a:r>
            <a:br/>
            <a:r>
              <a:t>Prashant Nair - PM</a:t>
            </a:r>
            <a:br/>
            <a:r>
              <a:t>Sathiya Krishnaraj - Designer</a:t>
            </a:r>
            <a:br/>
            <a:r>
              <a:t>Shah Boja - Tech Specialist</a:t>
            </a:r>
            <a:br/>
            <a:r>
              <a:t>Gail Miller - BA</a:t>
            </a:r>
            <a:br/>
            <a:r>
              <a:t>Mark Butler - BA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1200" y="731520"/>
            <a:ext cx="228600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D1D4D"/>
                </a:solidFill>
              </a:defRPr>
            </a:pPr>
            <a:r>
              <a:t>Team: c19 FTE</a:t>
            </a:r>
          </a:p>
          <a:p>
            <a:br/>
            <a:pPr>
              <a:defRPr sz="1000">
                <a:solidFill>
                  <a:srgbClr val="1D1D4D"/>
                </a:solidFill>
              </a:defRPr>
            </a:pPr>
            <a:r>
              <a:t>Growth: 5</a:t>
            </a:r>
          </a:p>
          <a:p>
            <a:pPr>
              <a:defRPr sz="1000">
                <a:solidFill>
                  <a:srgbClr val="1D1D4D"/>
                </a:solidFill>
              </a:defRPr>
            </a:pPr>
            <a:r>
              <a:t>Brochureware: 8</a:t>
            </a:r>
          </a:p>
          <a:p>
            <a:pPr>
              <a:defRPr sz="1000">
                <a:solidFill>
                  <a:srgbClr val="1D1D4D"/>
                </a:solidFill>
              </a:defRPr>
            </a:pPr>
            <a:r>
              <a:t>SAM: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09728"/>
            <a:ext cx="320040" cy="320040"/>
          </a:xfrm>
          <a:prstGeom prst="ellipse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Value Stream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9999"/>
                </a:solidFill>
              </a:defRPr>
            </a:pPr>
            <a:r>
              <a:t>NBS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822960"/>
            <a:ext cx="164592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Q4 2025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822960"/>
            <a:ext cx="164592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Q1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0" y="822960"/>
            <a:ext cx="164592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Q2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822960"/>
            <a:ext cx="164592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Q3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0" y="822960"/>
            <a:ext cx="164592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Q4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822960"/>
            <a:ext cx="164592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2027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280160"/>
            <a:ext cx="12188952" cy="1005840"/>
          </a:xfrm>
          <a:prstGeom prst="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1463039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D1D4D"/>
                </a:solidFill>
              </a:defRPr>
            </a:pPr>
            <a:r>
              <a:t>Waracle</a:t>
            </a:r>
            <a:br/>
            <a:r>
              <a:t>Calculator</a:t>
            </a:r>
          </a:p>
        </p:txBody>
      </p:sp>
      <p:sp>
        <p:nvSpPr>
          <p:cNvPr id="15" name="Diamond 14"/>
          <p:cNvSpPr/>
          <p:nvPr/>
        </p:nvSpPr>
        <p:spPr>
          <a:xfrm>
            <a:off x="4078224" y="160020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94176" y="17373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Go Live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2286000"/>
            <a:ext cx="12188952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" y="246888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D1D4D"/>
                </a:solidFill>
              </a:defRPr>
            </a:pPr>
            <a:r>
              <a:t>Direct</a:t>
            </a:r>
            <a:br/>
            <a:r>
              <a:t>Website</a:t>
            </a:r>
          </a:p>
        </p:txBody>
      </p:sp>
      <p:sp>
        <p:nvSpPr>
          <p:cNvPr id="19" name="Diamond 18"/>
          <p:cNvSpPr/>
          <p:nvPr/>
        </p:nvSpPr>
        <p:spPr>
          <a:xfrm>
            <a:off x="3913632" y="260604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9584" y="27432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CBIS Rebrand</a:t>
            </a:r>
          </a:p>
        </p:txBody>
      </p:sp>
      <p:sp>
        <p:nvSpPr>
          <p:cNvPr id="21" name="Diamond 20"/>
          <p:cNvSpPr/>
          <p:nvPr/>
        </p:nvSpPr>
        <p:spPr>
          <a:xfrm>
            <a:off x="4407408" y="260604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0" y="27432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Re-platform</a:t>
            </a:r>
          </a:p>
        </p:txBody>
      </p:sp>
      <p:sp>
        <p:nvSpPr>
          <p:cNvPr id="23" name="Diamond 22"/>
          <p:cNvSpPr/>
          <p:nvPr/>
        </p:nvSpPr>
        <p:spPr>
          <a:xfrm>
            <a:off x="5230368" y="260604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0" y="27432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FSMA Cutover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3291840"/>
            <a:ext cx="12188952" cy="1005840"/>
          </a:xfrm>
          <a:prstGeom prst="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880" y="347472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D1D4D"/>
                </a:solidFill>
              </a:defRPr>
            </a:pPr>
            <a:r>
              <a:t>Growth</a:t>
            </a:r>
            <a:br/>
            <a:r>
              <a:t>Ops</a:t>
            </a:r>
          </a:p>
        </p:txBody>
      </p:sp>
      <p:sp>
        <p:nvSpPr>
          <p:cNvPr id="27" name="Diamond 26"/>
          <p:cNvSpPr/>
          <p:nvPr/>
        </p:nvSpPr>
        <p:spPr>
          <a:xfrm>
            <a:off x="4242816" y="361188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58768" y="3749039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10to8 &amp; Live Chat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4297680"/>
            <a:ext cx="12188952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82880" y="448056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D1D4D"/>
                </a:solidFill>
              </a:defRPr>
            </a:pPr>
            <a:r>
              <a:t>Growth</a:t>
            </a:r>
            <a:br/>
            <a:r>
              <a:t>Comms</a:t>
            </a:r>
          </a:p>
        </p:txBody>
      </p:sp>
      <p:sp>
        <p:nvSpPr>
          <p:cNvPr id="31" name="Diamond 30"/>
          <p:cNvSpPr/>
          <p:nvPr/>
        </p:nvSpPr>
        <p:spPr>
          <a:xfrm>
            <a:off x="4572000" y="4617720"/>
            <a:ext cx="146304" cy="146304"/>
          </a:xfrm>
          <a:prstGeom prst="diamond">
            <a:avLst/>
          </a:prstGeom>
          <a:solidFill>
            <a:srgbClr val="FF9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87952" y="4754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Broker Comms Strategy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5303520"/>
            <a:ext cx="12188952" cy="1005840"/>
          </a:xfrm>
          <a:prstGeom prst="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82880" y="54864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D1D4D"/>
                </a:solidFill>
              </a:defRPr>
            </a:pPr>
            <a:r>
              <a:t>SAM</a:t>
            </a:r>
            <a:br/>
            <a:r>
              <a:t>Replacement</a:t>
            </a:r>
          </a:p>
        </p:txBody>
      </p:sp>
      <p:sp>
        <p:nvSpPr>
          <p:cNvPr id="35" name="Diamond 34"/>
          <p:cNvSpPr/>
          <p:nvPr/>
        </p:nvSpPr>
        <p:spPr>
          <a:xfrm>
            <a:off x="4407408" y="562356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23360" y="5760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Discovery</a:t>
            </a:r>
          </a:p>
        </p:txBody>
      </p:sp>
      <p:sp>
        <p:nvSpPr>
          <p:cNvPr id="37" name="Diamond 36"/>
          <p:cNvSpPr/>
          <p:nvPr/>
        </p:nvSpPr>
        <p:spPr>
          <a:xfrm>
            <a:off x="5230368" y="562356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46320" y="5760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Decision</a:t>
            </a:r>
          </a:p>
        </p:txBody>
      </p:sp>
      <p:sp>
        <p:nvSpPr>
          <p:cNvPr id="39" name="Diamond 38"/>
          <p:cNvSpPr/>
          <p:nvPr/>
        </p:nvSpPr>
        <p:spPr>
          <a:xfrm>
            <a:off x="6876288" y="5623560"/>
            <a:ext cx="146304" cy="146304"/>
          </a:xfrm>
          <a:prstGeom prst="diamond">
            <a:avLst/>
          </a:prstGeom>
          <a:solidFill>
            <a:srgbClr val="FF9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92240" y="5760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Implementation</a:t>
            </a:r>
          </a:p>
        </p:txBody>
      </p:sp>
      <p:sp>
        <p:nvSpPr>
          <p:cNvPr id="41" name="Diamond 40"/>
          <p:cNvSpPr/>
          <p:nvPr/>
        </p:nvSpPr>
        <p:spPr>
          <a:xfrm>
            <a:off x="9838944" y="562356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54896" y="5760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Go Live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49039" y="822960"/>
            <a:ext cx="18288" cy="5029200"/>
          </a:xfrm>
          <a:prstGeom prst="rect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66159" y="585216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E50050"/>
                </a:solidFill>
              </a:defRPr>
            </a:pPr>
            <a:r>
              <a:t>Today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320" y="62179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◆ Confirmed milestone    ◆ TBC/In planning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09728"/>
            <a:ext cx="320040" cy="320040"/>
          </a:xfrm>
          <a:prstGeom prst="ellipse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L0 &amp; L1 Milestones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9999"/>
                </a:solidFill>
              </a:defRPr>
            </a:pPr>
            <a:r>
              <a:t>NBS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7315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1D4D"/>
                </a:solidFill>
              </a:defRPr>
            </a:pPr>
            <a:r>
              <a:t>L0 Objectives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320040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Objective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097280"/>
            <a:ext cx="118872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L0 Target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097280"/>
            <a:ext cx="73152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94959" y="1097280"/>
            <a:ext cx="164592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Owner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417319"/>
            <a:ext cx="3200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Waracle Calculator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1417319"/>
            <a:ext cx="11887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11 Feb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1417319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59" y="1417319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737360"/>
            <a:ext cx="3200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Direct Website Re-platform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0" y="1737360"/>
            <a:ext cx="11887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02 Apr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173736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94959" y="173736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057400"/>
            <a:ext cx="3200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Growth - Operational Efficiencies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0" y="2057400"/>
            <a:ext cx="11887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31 Mar 2027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63440" y="205740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94959" y="205740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377439"/>
            <a:ext cx="3200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Growth - Communications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0" y="2377439"/>
            <a:ext cx="11887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31 Mar 2027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2377439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59" y="2377439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697480"/>
            <a:ext cx="3200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Growth - Case Segmentation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0" y="2697480"/>
            <a:ext cx="11887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31 Mar 2027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63440" y="269748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94959" y="269748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3017520"/>
            <a:ext cx="3200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 Replacement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0" y="3017520"/>
            <a:ext cx="11887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31 Dec 2026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63440" y="301752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94959" y="301752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Graeme Cumming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36576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1D4D"/>
                </a:solidFill>
              </a:defRPr>
            </a:pPr>
            <a:r>
              <a:t>Key L1 Milestones (Next 90 Days)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4023360"/>
            <a:ext cx="292608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Milestone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0" y="4023360"/>
            <a:ext cx="164592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Parent L0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46320" y="4023360"/>
            <a:ext cx="91440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Due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760720" y="4023360"/>
            <a:ext cx="73152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RAG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4343400"/>
            <a:ext cx="29260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CB AFCALC Governance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0" y="434340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Waracle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46320" y="4343400"/>
            <a:ext cx="914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10 Feb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60720" y="434340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663440"/>
            <a:ext cx="292608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CBIS Rebranding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0" y="466344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Direct Website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846320" y="4663440"/>
            <a:ext cx="914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10 Feb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60720" y="466344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4983480"/>
            <a:ext cx="29260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10to8 Appointment Booking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0" y="498348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Growth Ops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846320" y="4983480"/>
            <a:ext cx="914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18 Feb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60720" y="498348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5303520"/>
            <a:ext cx="292608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Re-platform Clydesdale Direct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0" y="530352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Direct Website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46320" y="5303520"/>
            <a:ext cx="914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20 Feb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760720" y="530352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5623560"/>
            <a:ext cx="29260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CB AFCALC Review &amp; Rebuild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200400" y="562356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Waracle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846320" y="5623560"/>
            <a:ext cx="914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27 Feb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60720" y="562356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" y="5943600"/>
            <a:ext cx="292608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 Discovery Complete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00400" y="594360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846320" y="5943600"/>
            <a:ext cx="914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27 Feb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760720" y="594360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6263640"/>
            <a:ext cx="29260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FSMA Part VII Cutover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200400" y="626364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Direct Website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846320" y="6263640"/>
            <a:ext cx="914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02 Apr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760720" y="626364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74320" y="6583680"/>
            <a:ext cx="292608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 Decision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00400" y="658368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846320" y="6583680"/>
            <a:ext cx="914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03 Apr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760720" y="658368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09728"/>
            <a:ext cx="320040" cy="320040"/>
          </a:xfrm>
          <a:prstGeom prst="ellipse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Risks &amp; Key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9999"/>
                </a:solidFill>
              </a:defRPr>
            </a:pPr>
            <a:r>
              <a:t>NBS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7315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1D4D"/>
                </a:solidFill>
              </a:defRPr>
            </a:pPr>
            <a:r>
              <a:t>Open Risks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365760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Risk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0" y="1097280"/>
            <a:ext cx="137160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Workstream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1097280"/>
            <a:ext cx="73152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097280"/>
            <a:ext cx="91440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9440" y="1097280"/>
            <a:ext cx="182880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Owner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463040"/>
            <a:ext cx="3657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Waracle 3rd party dependency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31920" y="1463040"/>
            <a:ext cx="1371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Waracle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0" y="1463040"/>
            <a:ext cx="731520" cy="365760"/>
          </a:xfrm>
          <a:prstGeom prst="rect">
            <a:avLst/>
          </a:prstGeom>
          <a:solidFill>
            <a:srgbClr val="36B37E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1463040"/>
            <a:ext cx="9144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28 Feb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49440" y="1463040"/>
            <a:ext cx="18288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1828800"/>
            <a:ext cx="3657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 Collate Capabilities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0" y="1828800"/>
            <a:ext cx="1371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3520" y="1828800"/>
            <a:ext cx="731520" cy="365760"/>
          </a:xfrm>
          <a:prstGeom prst="rect">
            <a:avLst/>
          </a:prstGeom>
          <a:solidFill>
            <a:srgbClr val="FF991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Amber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1828800"/>
            <a:ext cx="9144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27 Mar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49440" y="1828800"/>
            <a:ext cx="18288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Graeme Cumming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2194560"/>
            <a:ext cx="3657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 not replaced in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2194560"/>
            <a:ext cx="1371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03520" y="2194560"/>
            <a:ext cx="731520" cy="365760"/>
          </a:xfrm>
          <a:prstGeom prst="rect">
            <a:avLst/>
          </a:prstGeom>
          <a:solidFill>
            <a:srgbClr val="FF991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Amber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2194560"/>
            <a:ext cx="9144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27 Feb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49440" y="2194560"/>
            <a:ext cx="18288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Graeme Cumming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27432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1D4D"/>
                </a:solidFill>
              </a:defRPr>
            </a:pPr>
            <a:r>
              <a:t>Key Challenges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31089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D1D4D"/>
                </a:solidFill>
              </a:defRPr>
            </a:pPr>
            <a:r>
              <a:t>• Waracle delivery tight (11 Feb) - governance sign-off in progress</a:t>
            </a:r>
          </a:p>
          <a:p>
            <a:pPr>
              <a:spcAft>
                <a:spcPts val="800"/>
              </a:spcAft>
              <a:defRPr sz="1200">
                <a:solidFill>
                  <a:srgbClr val="1D1D4D"/>
                </a:solidFill>
              </a:defRPr>
            </a:pPr>
            <a:r>
              <a:t>• SAM vendor decision pending (Q2) - Collate capability validation ongoing</a:t>
            </a:r>
          </a:p>
          <a:p>
            <a:pPr>
              <a:spcAft>
                <a:spcPts val="800"/>
              </a:spcAft>
              <a:defRPr sz="1200">
                <a:solidFill>
                  <a:srgbClr val="1D1D4D"/>
                </a:solidFill>
              </a:defRPr>
            </a:pPr>
            <a:r>
              <a:t>• Growth Case Segmentation re-prioritised to focus on 10to8 &amp; Live Chat</a:t>
            </a:r>
          </a:p>
          <a:p>
            <a:pPr>
              <a:spcAft>
                <a:spcPts val="800"/>
              </a:spcAft>
              <a:defRPr sz="1200">
                <a:solidFill>
                  <a:srgbClr val="1D1D4D"/>
                </a:solidFill>
              </a:defRPr>
            </a:pPr>
            <a:r>
              <a:t>• Direct Website FSMA cutover dependent on Part VII programme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