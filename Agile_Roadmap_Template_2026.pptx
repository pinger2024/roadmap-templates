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Delivery</a:t>
            </a:r>
            <a:br/>
            <a:r>
              <a:t>2x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.NET Dev</a:t>
            </a:r>
            <a:br/>
            <a:r>
              <a:t>2x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3x BA</a:t>
            </a:r>
            <a:br/>
            <a:r>
              <a:t>2x Delivery</a:t>
            </a:r>
            <a:br/>
            <a:r>
              <a:t>1x Design</a:t>
            </a:r>
            <a:br/>
            <a:r>
              <a:t>3x Java Dev</a:t>
            </a:r>
            <a:br/>
            <a:r>
              <a:t>7x QE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Stream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80160"/>
            <a:ext cx="12188952" cy="91440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63039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Waracle</a:t>
            </a:r>
            <a:br/>
            <a:r>
              <a:t>Calculator</a:t>
            </a:r>
          </a:p>
        </p:txBody>
      </p:sp>
      <p:sp>
        <p:nvSpPr>
          <p:cNvPr id="15" name="Diamond 14"/>
          <p:cNvSpPr/>
          <p:nvPr/>
        </p:nvSpPr>
        <p:spPr>
          <a:xfrm>
            <a:off x="4078224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176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Go Live</a:t>
            </a:r>
            <a:br/>
            <a:r>
              <a:t>11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2194560"/>
            <a:ext cx="1218895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23774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Direct</a:t>
            </a:r>
            <a:br/>
            <a:r>
              <a:t>Website</a:t>
            </a:r>
          </a:p>
        </p:txBody>
      </p:sp>
      <p:sp>
        <p:nvSpPr>
          <p:cNvPr id="19" name="Diamond 18"/>
          <p:cNvSpPr/>
          <p:nvPr/>
        </p:nvSpPr>
        <p:spPr>
          <a:xfrm>
            <a:off x="3913632" y="25146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2651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CBIS Rebrand</a:t>
            </a:r>
            <a:br/>
            <a:r>
              <a:t>10 Feb</a:t>
            </a:r>
          </a:p>
        </p:txBody>
      </p:sp>
      <p:sp>
        <p:nvSpPr>
          <p:cNvPr id="21" name="Diamond 20"/>
          <p:cNvSpPr/>
          <p:nvPr/>
        </p:nvSpPr>
        <p:spPr>
          <a:xfrm>
            <a:off x="5230368" y="25146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651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Re-platform</a:t>
            </a:r>
            <a:br/>
            <a:r>
              <a:t>2 Apr</a:t>
            </a:r>
          </a:p>
        </p:txBody>
      </p:sp>
      <p:sp>
        <p:nvSpPr>
          <p:cNvPr id="23" name="Diamond 22"/>
          <p:cNvSpPr/>
          <p:nvPr/>
        </p:nvSpPr>
        <p:spPr>
          <a:xfrm>
            <a:off x="5394960" y="25146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2651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FSMA</a:t>
            </a:r>
            <a:br/>
            <a:r>
              <a:t>7 Apr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3108960"/>
            <a:ext cx="12188952" cy="91440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3291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Brochureware</a:t>
            </a:r>
            <a:br/>
            <a:r>
              <a:t>BAU</a:t>
            </a:r>
          </a:p>
        </p:txBody>
      </p:sp>
      <p:sp>
        <p:nvSpPr>
          <p:cNvPr id="27" name="Diamond 26"/>
          <p:cNvSpPr/>
          <p:nvPr/>
        </p:nvSpPr>
        <p:spPr>
          <a:xfrm>
            <a:off x="4407408" y="34290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35661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Budget</a:t>
            </a:r>
            <a:br/>
            <a:r>
              <a:t>19 Feb</a:t>
            </a:r>
          </a:p>
        </p:txBody>
      </p:sp>
      <p:sp>
        <p:nvSpPr>
          <p:cNvPr id="29" name="Diamond 28"/>
          <p:cNvSpPr/>
          <p:nvPr/>
        </p:nvSpPr>
        <p:spPr>
          <a:xfrm>
            <a:off x="5724144" y="34290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35661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PTO Synergy</a:t>
            </a:r>
            <a:br/>
            <a:r>
              <a:t>30 Apr</a:t>
            </a:r>
          </a:p>
        </p:txBody>
      </p:sp>
      <p:sp>
        <p:nvSpPr>
          <p:cNvPr id="31" name="Diamond 30"/>
          <p:cNvSpPr/>
          <p:nvPr/>
        </p:nvSpPr>
        <p:spPr>
          <a:xfrm>
            <a:off x="6217920" y="34290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3872" y="35661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VM Indirect</a:t>
            </a:r>
            <a:br/>
            <a:r>
              <a:t>31 May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023360"/>
            <a:ext cx="1218895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" y="42062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Releases</a:t>
            </a:r>
          </a:p>
        </p:txBody>
      </p:sp>
      <p:sp>
        <p:nvSpPr>
          <p:cNvPr id="35" name="Diamond 34"/>
          <p:cNvSpPr/>
          <p:nvPr/>
        </p:nvSpPr>
        <p:spPr>
          <a:xfrm>
            <a:off x="4242816" y="43434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58768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10to8</a:t>
            </a:r>
            <a:br/>
            <a:r>
              <a:t>18 Feb</a:t>
            </a:r>
          </a:p>
        </p:txBody>
      </p:sp>
      <p:sp>
        <p:nvSpPr>
          <p:cNvPr id="37" name="Diamond 36"/>
          <p:cNvSpPr/>
          <p:nvPr/>
        </p:nvSpPr>
        <p:spPr>
          <a:xfrm>
            <a:off x="6793992" y="43434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9944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Q2 Release</a:t>
            </a:r>
            <a:br/>
            <a:r>
              <a:t>30 Jun</a:t>
            </a:r>
          </a:p>
        </p:txBody>
      </p:sp>
      <p:sp>
        <p:nvSpPr>
          <p:cNvPr id="39" name="Diamond 38"/>
          <p:cNvSpPr/>
          <p:nvPr/>
        </p:nvSpPr>
        <p:spPr>
          <a:xfrm>
            <a:off x="8439912" y="43434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55864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Q3 Release</a:t>
            </a:r>
            <a:br/>
            <a:r>
              <a:t>30 Sep</a:t>
            </a:r>
          </a:p>
        </p:txBody>
      </p:sp>
      <p:sp>
        <p:nvSpPr>
          <p:cNvPr id="41" name="Diamond 40"/>
          <p:cNvSpPr/>
          <p:nvPr/>
        </p:nvSpPr>
        <p:spPr>
          <a:xfrm>
            <a:off x="10661903" y="43434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77855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FY27</a:t>
            </a:r>
            <a:br/>
            <a:r>
              <a:t>24 Mar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4937760"/>
            <a:ext cx="12188952" cy="91440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880" y="51206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SAM</a:t>
            </a:r>
            <a:br/>
            <a:r>
              <a:t>Replacement</a:t>
            </a:r>
          </a:p>
        </p:txBody>
      </p:sp>
      <p:sp>
        <p:nvSpPr>
          <p:cNvPr id="45" name="Diamond 44"/>
          <p:cNvSpPr/>
          <p:nvPr/>
        </p:nvSpPr>
        <p:spPr>
          <a:xfrm>
            <a:off x="4901184" y="52578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94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Discovery</a:t>
            </a:r>
            <a:br/>
            <a:r>
              <a:t>27 Feb</a:t>
            </a:r>
          </a:p>
        </p:txBody>
      </p:sp>
      <p:sp>
        <p:nvSpPr>
          <p:cNvPr id="47" name="Diamond 46"/>
          <p:cNvSpPr/>
          <p:nvPr/>
        </p:nvSpPr>
        <p:spPr>
          <a:xfrm>
            <a:off x="5230368" y="52578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0" y="5394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Decision</a:t>
            </a:r>
            <a:br/>
            <a:r>
              <a:t>3 Apr</a:t>
            </a:r>
          </a:p>
        </p:txBody>
      </p:sp>
      <p:sp>
        <p:nvSpPr>
          <p:cNvPr id="49" name="Diamond 48"/>
          <p:cNvSpPr/>
          <p:nvPr/>
        </p:nvSpPr>
        <p:spPr>
          <a:xfrm>
            <a:off x="9838944" y="5257800"/>
            <a:ext cx="146304" cy="146304"/>
          </a:xfrm>
          <a:prstGeom prst="diamond">
            <a:avLst/>
          </a:prstGeom>
          <a:solidFill>
            <a:srgbClr val="FF9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4896" y="5394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Go Live</a:t>
            </a:r>
            <a:br/>
            <a:r>
              <a:t>Dec 26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39" y="822960"/>
            <a:ext cx="18288" cy="457200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59" y="5852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2179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◆ Confirmed milestone    ◆ TBC/In planning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Review &amp; Rebuild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 Complete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26364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FSMA Part VII Cutover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0" y="626364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46320" y="626364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62636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658368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658368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658368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65836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3rd party dependency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36B37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in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Waracle delivery tight (11 Feb) - governance sign-off in progress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(Q2)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Case Segmentation re-prioritised to focus on 10to8 &amp; Live Chat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