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Delivery</a:t>
            </a:r>
            <a:br/>
            <a:r>
              <a:t>2x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.NET Dev</a:t>
            </a:r>
            <a:br/>
            <a:r>
              <a:t>2x QE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31920"/>
            <a:ext cx="347472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3x BA</a:t>
            </a:r>
            <a:br/>
            <a:r>
              <a:t>2x Delivery</a:t>
            </a:r>
            <a:br/>
            <a:r>
              <a:t>1x Design</a:t>
            </a:r>
            <a:br/>
            <a:r>
              <a:t>3x Java Dev</a:t>
            </a:r>
            <a:br/>
            <a:r>
              <a:t>7x QE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731520"/>
            <a:ext cx="22860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FY27: 26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SAM: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Stream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80160"/>
            <a:ext cx="12188952" cy="109728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463039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Brochureware</a:t>
            </a:r>
            <a:br/>
            <a:r>
              <a:t>Releases</a:t>
            </a:r>
          </a:p>
        </p:txBody>
      </p:sp>
      <p:sp>
        <p:nvSpPr>
          <p:cNvPr id="15" name="Diamond 14"/>
          <p:cNvSpPr/>
          <p:nvPr/>
        </p:nvSpPr>
        <p:spPr>
          <a:xfrm>
            <a:off x="4407408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Budget Updates</a:t>
            </a:r>
            <a:br/>
            <a:r>
              <a:t>19 Feb</a:t>
            </a:r>
          </a:p>
        </p:txBody>
      </p:sp>
      <p:sp>
        <p:nvSpPr>
          <p:cNvPr id="17" name="Diamond 16"/>
          <p:cNvSpPr/>
          <p:nvPr/>
        </p:nvSpPr>
        <p:spPr>
          <a:xfrm>
            <a:off x="5724144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PTO Synergy</a:t>
            </a:r>
            <a:br/>
            <a:r>
              <a:t>30 Apr</a:t>
            </a:r>
          </a:p>
        </p:txBody>
      </p:sp>
      <p:sp>
        <p:nvSpPr>
          <p:cNvPr id="19" name="Diamond 18"/>
          <p:cNvSpPr/>
          <p:nvPr/>
        </p:nvSpPr>
        <p:spPr>
          <a:xfrm>
            <a:off x="6217920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VM Indirect</a:t>
            </a:r>
            <a:br/>
            <a:r>
              <a:t>31 May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2377439"/>
            <a:ext cx="121889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25603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Releases</a:t>
            </a:r>
          </a:p>
        </p:txBody>
      </p:sp>
      <p:sp>
        <p:nvSpPr>
          <p:cNvPr id="23" name="Diamond 22"/>
          <p:cNvSpPr/>
          <p:nvPr/>
        </p:nvSpPr>
        <p:spPr>
          <a:xfrm>
            <a:off x="6793992" y="2697479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28346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Q2 Release</a:t>
            </a:r>
            <a:br/>
            <a:r>
              <a:t>30 Jun</a:t>
            </a:r>
          </a:p>
        </p:txBody>
      </p:sp>
      <p:sp>
        <p:nvSpPr>
          <p:cNvPr id="25" name="Diamond 24"/>
          <p:cNvSpPr/>
          <p:nvPr/>
        </p:nvSpPr>
        <p:spPr>
          <a:xfrm>
            <a:off x="8439912" y="2697479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55864" y="28346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Q3 Release</a:t>
            </a:r>
            <a:br/>
            <a:r>
              <a:t>30 Sep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39" y="822960"/>
            <a:ext cx="18288" cy="256032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59" y="34747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84048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L0/L1 milestones shown on separate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L0 &amp; L1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L0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11887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L0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59" y="109728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17319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Calculator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417319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11 Feb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1731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59" y="1417319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3736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 Re-platform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373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173736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5740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Operational Efficiencies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5740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57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59" y="2057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77439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Communications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2377439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7743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377439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9748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Case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269748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697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59" y="2697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1752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Replacement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01752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Dec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017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3017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L1 Milestones (Next 90 Days)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23360"/>
            <a:ext cx="292608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Milestone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2336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Parent L0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023360"/>
            <a:ext cx="914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402336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34340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Governance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43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34340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343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CBIS Rebranding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66344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466344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46634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8348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10to8 Appointment Booking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983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Ops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98348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18 Feb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4983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30352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Re-platform Clydesdale Direct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5303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30352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20 Feb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5303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62356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Review &amp; Rebuild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562356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562356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6235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94360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Discovery Complete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94360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94360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59436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26364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FSMA Part VII Cutover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0" y="626364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46320" y="626364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60720" y="62636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658368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Decision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658368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658368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03 Apr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65836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3rd party dependency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36B37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in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Waracle delivery tight (11 Feb) - governance sign-off in progress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(Q2)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Case Segmentation re-prioritised to focus on 10to8 &amp; Live Chat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