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Delivery</a:t>
            </a:r>
            <a:br/>
            <a:r>
              <a:t>2x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.NET Dev</a:t>
            </a:r>
            <a:br/>
            <a:r>
              <a:t>2x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3x BA</a:t>
            </a:r>
            <a:br/>
            <a:r>
              <a:t>2x Delivery</a:t>
            </a:r>
            <a:br/>
            <a:r>
              <a:t>1x Design</a:t>
            </a:r>
            <a:br/>
            <a:r>
              <a:t>3x Java Dev</a:t>
            </a:r>
            <a:br/>
            <a:r>
              <a:t>7x QE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Value Stream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822960"/>
            <a:ext cx="164592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80160"/>
            <a:ext cx="12188952" cy="109728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463039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Brochureware</a:t>
            </a:r>
            <a:br/>
            <a:r>
              <a:t>Releases</a:t>
            </a:r>
          </a:p>
        </p:txBody>
      </p:sp>
      <p:sp>
        <p:nvSpPr>
          <p:cNvPr id="15" name="Diamond 14"/>
          <p:cNvSpPr/>
          <p:nvPr/>
        </p:nvSpPr>
        <p:spPr>
          <a:xfrm>
            <a:off x="4407408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Budget Updates</a:t>
            </a:r>
            <a:br/>
            <a:r>
              <a:t>19 Feb</a:t>
            </a:r>
          </a:p>
        </p:txBody>
      </p:sp>
      <p:sp>
        <p:nvSpPr>
          <p:cNvPr id="17" name="Diamond 16"/>
          <p:cNvSpPr/>
          <p:nvPr/>
        </p:nvSpPr>
        <p:spPr>
          <a:xfrm>
            <a:off x="5724144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096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PTO Synergy</a:t>
            </a:r>
            <a:br/>
            <a:r>
              <a:t>30 Apr</a:t>
            </a:r>
          </a:p>
        </p:txBody>
      </p:sp>
      <p:sp>
        <p:nvSpPr>
          <p:cNvPr id="19" name="Diamond 18"/>
          <p:cNvSpPr/>
          <p:nvPr/>
        </p:nvSpPr>
        <p:spPr>
          <a:xfrm>
            <a:off x="6217920" y="1600200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VM Indirect</a:t>
            </a:r>
            <a:br/>
            <a:r>
              <a:t>31 May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2377439"/>
            <a:ext cx="121889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256032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D1D4D"/>
                </a:solidFill>
              </a:defRPr>
            </a:pPr>
            <a:r>
              <a:t>Growth</a:t>
            </a:r>
            <a:br/>
            <a:r>
              <a:t>Releases</a:t>
            </a:r>
          </a:p>
        </p:txBody>
      </p:sp>
      <p:sp>
        <p:nvSpPr>
          <p:cNvPr id="23" name="Diamond 22"/>
          <p:cNvSpPr/>
          <p:nvPr/>
        </p:nvSpPr>
        <p:spPr>
          <a:xfrm>
            <a:off x="6793992" y="2697479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28346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Q2 Release</a:t>
            </a:r>
            <a:br/>
            <a:r>
              <a:t>30 Jun</a:t>
            </a:r>
          </a:p>
        </p:txBody>
      </p:sp>
      <p:sp>
        <p:nvSpPr>
          <p:cNvPr id="25" name="Diamond 24"/>
          <p:cNvSpPr/>
          <p:nvPr/>
        </p:nvSpPr>
        <p:spPr>
          <a:xfrm>
            <a:off x="8439912" y="2697479"/>
            <a:ext cx="146304" cy="146304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55864" y="28346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1D1D4D"/>
                </a:solidFill>
              </a:defRPr>
            </a:pPr>
            <a:r>
              <a:t>Q3 Release</a:t>
            </a:r>
            <a:br/>
            <a:r>
              <a:t>30 Sep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39" y="822960"/>
            <a:ext cx="18288" cy="256032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59" y="34747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384048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L0/L1 milestones shown on separate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Graeme Cumming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before Dec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Design Support Availability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6032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QE Test Availability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256032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56032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 Terrance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resource ramp-up - QE and Design availability constraints (Feb-Jun)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(Apr)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quarterly releases need scope clarity for Q2 and Q3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