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931920"/>
            <a:ext cx="22860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Growth (5)</a:t>
            </a:r>
          </a:p>
          <a:p>
            <a:pPr algn="l">
              <a:defRPr sz="900">
                <a:solidFill>
                  <a:srgbClr val="1D1D4D"/>
                </a:solidFill>
              </a:defRPr>
            </a:pPr>
            <a:r>
              <a:t>Steven Warner - BA</a:t>
            </a:r>
            <a:br/>
            <a:r>
              <a:t>Chirag Kalra - SM (Apr)</a:t>
            </a:r>
            <a:br/>
            <a:r>
              <a:t>Bharath Mahesh - QE</a:t>
            </a:r>
            <a:br/>
            <a:r>
              <a:t>Rahul Yaruva -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3931920"/>
            <a:ext cx="22860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Brochureware (5)</a:t>
            </a:r>
          </a:p>
          <a:p>
            <a:pPr algn="l">
              <a:defRPr sz="900">
                <a:solidFill>
                  <a:srgbClr val="1D1D4D"/>
                </a:solidFill>
              </a:defRPr>
            </a:pPr>
            <a:r>
              <a:t>Lee Keegan - .NET Dev</a:t>
            </a:r>
            <a:br/>
            <a:r>
              <a:t>Shona Stewart - BA</a:t>
            </a:r>
            <a:br/>
            <a:r>
              <a:t>Gopi Doli - .NET Dev</a:t>
            </a:r>
            <a:br/>
            <a:r>
              <a:t>Hrushikesh Kadu - QE</a:t>
            </a:r>
            <a:br/>
            <a:r>
              <a:t>Saurabh Mohanrao - QE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3931920"/>
            <a:ext cx="237744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SAM Collate (7)</a:t>
            </a:r>
          </a:p>
          <a:p>
            <a:pPr algn="l">
              <a:defRPr sz="800">
                <a:solidFill>
                  <a:srgbClr val="1D1D4D"/>
                </a:solidFill>
              </a:defRPr>
            </a:pPr>
            <a:r>
              <a:t>Prashant Nair - PM</a:t>
            </a:r>
            <a:br/>
            <a:r>
              <a:t>Sathiya Krishnaraj - Design</a:t>
            </a:r>
            <a:br/>
            <a:r>
              <a:t>Mark Butler - BA</a:t>
            </a:r>
            <a:br/>
            <a:r>
              <a:t>Silpa Revuru - Java</a:t>
            </a:r>
            <a:br/>
            <a:r>
              <a:t>Arun Rajan - QE (Apr)</a:t>
            </a:r>
            <a:br/>
            <a:r>
              <a:t>Arnab Purakayestha - QE (May)</a:t>
            </a:r>
            <a:br/>
            <a:r>
              <a:t>Monisha Behera - QE (Jun)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931920"/>
            <a:ext cx="22860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SAM Squad 1 (6)</a:t>
            </a:r>
          </a:p>
          <a:p>
            <a:pPr algn="l">
              <a:defRPr sz="900">
                <a:solidFill>
                  <a:srgbClr val="1D1D4D"/>
                </a:solidFill>
              </a:defRPr>
            </a:pPr>
            <a:r>
              <a:t>Shailesh Ranjan - Lead</a:t>
            </a:r>
            <a:br/>
            <a:r>
              <a:t>Gail Miller - BA</a:t>
            </a:r>
            <a:br/>
            <a:r>
              <a:t>Rishi Kant Thakur - Java</a:t>
            </a:r>
            <a:br/>
            <a:r>
              <a:t>Java Gap (Jun)</a:t>
            </a:r>
            <a:br/>
            <a:r>
              <a:t>2x QE Gap (Jun)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3931920"/>
            <a:ext cx="201168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SAM Squad 2 (3)</a:t>
            </a:r>
          </a:p>
          <a:p>
            <a:pPr algn="l">
              <a:defRPr sz="900">
                <a:solidFill>
                  <a:srgbClr val="1D1D4D"/>
                </a:solidFill>
              </a:defRPr>
            </a:pPr>
            <a:r>
              <a:t>Craig Studley - BA</a:t>
            </a:r>
            <a:br/>
            <a:r>
              <a:t>Ganesh Tallapudi - QE (Apr)</a:t>
            </a:r>
            <a:br/>
            <a:r>
              <a:t>QE Gap (Jun)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731520"/>
            <a:ext cx="246888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FY27 Team: 26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 Collate: 7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 Squad 1: 6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 Squad 2: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Stream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8016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463039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Waracle</a:t>
            </a:r>
            <a:br/>
            <a:r>
              <a:t>Calculator</a:t>
            </a:r>
          </a:p>
        </p:txBody>
      </p:sp>
      <p:sp>
        <p:nvSpPr>
          <p:cNvPr id="15" name="Diamond 14"/>
          <p:cNvSpPr/>
          <p:nvPr/>
        </p:nvSpPr>
        <p:spPr>
          <a:xfrm>
            <a:off x="4078224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176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Go Live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228600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24688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Direct</a:t>
            </a:r>
            <a:br/>
            <a:r>
              <a:t>Website</a:t>
            </a:r>
          </a:p>
        </p:txBody>
      </p:sp>
      <p:sp>
        <p:nvSpPr>
          <p:cNvPr id="19" name="Diamond 18"/>
          <p:cNvSpPr/>
          <p:nvPr/>
        </p:nvSpPr>
        <p:spPr>
          <a:xfrm>
            <a:off x="3913632" y="260604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CBIS Rebrand</a:t>
            </a:r>
          </a:p>
        </p:txBody>
      </p:sp>
      <p:sp>
        <p:nvSpPr>
          <p:cNvPr id="21" name="Diamond 20"/>
          <p:cNvSpPr/>
          <p:nvPr/>
        </p:nvSpPr>
        <p:spPr>
          <a:xfrm>
            <a:off x="4407408" y="260604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Re-platform</a:t>
            </a:r>
          </a:p>
        </p:txBody>
      </p:sp>
      <p:sp>
        <p:nvSpPr>
          <p:cNvPr id="23" name="Diamond 22"/>
          <p:cNvSpPr/>
          <p:nvPr/>
        </p:nvSpPr>
        <p:spPr>
          <a:xfrm>
            <a:off x="5230368" y="260604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FSMA Cutover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329184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3474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Ops</a:t>
            </a:r>
          </a:p>
        </p:txBody>
      </p:sp>
      <p:sp>
        <p:nvSpPr>
          <p:cNvPr id="27" name="Diamond 26"/>
          <p:cNvSpPr/>
          <p:nvPr/>
        </p:nvSpPr>
        <p:spPr>
          <a:xfrm>
            <a:off x="4242816" y="361188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58768" y="37490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10to8 &amp; Live Chat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29768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4805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Comms</a:t>
            </a:r>
          </a:p>
        </p:txBody>
      </p:sp>
      <p:sp>
        <p:nvSpPr>
          <p:cNvPr id="31" name="Diamond 30"/>
          <p:cNvSpPr/>
          <p:nvPr/>
        </p:nvSpPr>
        <p:spPr>
          <a:xfrm>
            <a:off x="4572000" y="4617720"/>
            <a:ext cx="146304" cy="146304"/>
          </a:xfrm>
          <a:prstGeom prst="diamond">
            <a:avLst/>
          </a:prstGeom>
          <a:solidFill>
            <a:srgbClr val="FF9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7952" y="4754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Broker Comms Strategy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530352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" y="54864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SAM</a:t>
            </a:r>
            <a:br/>
            <a:r>
              <a:t>Replacement</a:t>
            </a:r>
          </a:p>
        </p:txBody>
      </p:sp>
      <p:sp>
        <p:nvSpPr>
          <p:cNvPr id="35" name="Diamond 34"/>
          <p:cNvSpPr/>
          <p:nvPr/>
        </p:nvSpPr>
        <p:spPr>
          <a:xfrm>
            <a:off x="4407408" y="562356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23360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Discovery</a:t>
            </a:r>
          </a:p>
        </p:txBody>
      </p:sp>
      <p:sp>
        <p:nvSpPr>
          <p:cNvPr id="37" name="Diamond 36"/>
          <p:cNvSpPr/>
          <p:nvPr/>
        </p:nvSpPr>
        <p:spPr>
          <a:xfrm>
            <a:off x="5230368" y="562356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Decision</a:t>
            </a:r>
          </a:p>
        </p:txBody>
      </p:sp>
      <p:sp>
        <p:nvSpPr>
          <p:cNvPr id="39" name="Diamond 38"/>
          <p:cNvSpPr/>
          <p:nvPr/>
        </p:nvSpPr>
        <p:spPr>
          <a:xfrm>
            <a:off x="6876288" y="5623560"/>
            <a:ext cx="146304" cy="146304"/>
          </a:xfrm>
          <a:prstGeom prst="diamond">
            <a:avLst/>
          </a:prstGeom>
          <a:solidFill>
            <a:srgbClr val="FF9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Implementation</a:t>
            </a:r>
          </a:p>
        </p:txBody>
      </p:sp>
      <p:sp>
        <p:nvSpPr>
          <p:cNvPr id="41" name="Diamond 40"/>
          <p:cNvSpPr/>
          <p:nvPr/>
        </p:nvSpPr>
        <p:spPr>
          <a:xfrm>
            <a:off x="9838944" y="562356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54896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Go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822960"/>
            <a:ext cx="18288" cy="502920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66159" y="58521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2179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◆ Confirmed milestone    ◆ TBC/In planning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L0 &amp; L1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L0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11887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L0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59" y="109728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17319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Calculator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417319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11 Feb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1731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59" y="1417319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3736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 Re-platform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373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173736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5740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Operational Efficiencies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5740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57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59" y="2057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77439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Communications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2377439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7743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377439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9748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Case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269748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697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59" y="2697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1752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Replacement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01752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Dec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017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3017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L1 Milestones (Next 90 Days)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23360"/>
            <a:ext cx="292608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Milestone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2336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Parent L0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023360"/>
            <a:ext cx="914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402336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34340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Governance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43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34340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343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CBIS Rebranding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66344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466344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46634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8348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10to8 Appointment Booking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983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Ops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98348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18 Feb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4983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30352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Re-platform Clydesdale Direct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5303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30352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20 Feb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5303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62356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Review &amp; Rebuild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562356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562356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6235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94360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Discovery Complete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94360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94360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59436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26364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FSMA Part VII Cutover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0" y="626364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46320" y="626364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60720" y="62636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658368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Decision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658368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658368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03 Apr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65836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3rd party dependency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36B37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in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Waracle delivery tight (11 Feb) - governance sign-off in progress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(Q2)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Case Segmentation re-prioritised to focus on 10to8 &amp; Live Chat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