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Mortgage Systems Value Stream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914400"/>
            <a:ext cx="3017520" cy="82296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Michael James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Delivery Lead</a:t>
            </a:r>
          </a:p>
          <a:p>
            <a:pPr algn="ctr">
              <a:defRPr sz="1000" b="0" i="1">
                <a:solidFill>
                  <a:srgbClr val="1D1D4D"/>
                </a:solidFill>
              </a:defRPr>
            </a:pPr>
            <a:r>
              <a:t>Value 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737360"/>
            <a:ext cx="18288" cy="4572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2194560"/>
            <a:ext cx="7589520" cy="18288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Origination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Waracle, 10to8, Case Seg*</a:t>
            </a:r>
          </a:p>
          <a:p>
            <a:pPr algn="ctr">
              <a:defRPr sz="800" b="0" i="1">
                <a:solidFill>
                  <a:srgbClr val="888888"/>
                </a:solidFill>
              </a:defRPr>
            </a:pPr>
            <a:r>
              <a:t>*re-prioritised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BAU &amp; Direct Website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Re-platform, CBIS Rebrand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Graeme Cumming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Collate 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Delivery</a:t>
            </a:r>
            <a:br/>
            <a:r>
              <a:t>2x QE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.NET Dev</a:t>
            </a:r>
            <a:br/>
            <a:r>
              <a:t>2x QE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931920"/>
            <a:ext cx="347472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3x BA</a:t>
            </a:r>
            <a:br/>
            <a:r>
              <a:t>2x Delivery</a:t>
            </a:r>
            <a:br/>
            <a:r>
              <a:t>1x Design</a:t>
            </a:r>
            <a:br/>
            <a:r>
              <a:t>3x Java Dev</a:t>
            </a:r>
            <a:br/>
            <a:r>
              <a:t>7x QE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731520"/>
            <a:ext cx="22860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FY27: 26 FTE</a:t>
            </a:r>
          </a:p>
          <a:p>
            <a:br/>
            <a:pPr>
              <a:defRPr sz="1000">
                <a:solidFill>
                  <a:srgbClr val="1D1D4D"/>
                </a:solidFill>
              </a:defRPr>
            </a:pPr>
            <a:r>
              <a:t>Growth: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Brochureware: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SAM: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Value Stream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Q1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Q2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Q3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280160"/>
            <a:ext cx="12188952" cy="109728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463039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Brochureware</a:t>
            </a:r>
            <a:br/>
            <a:r>
              <a:t>Releases</a:t>
            </a:r>
          </a:p>
        </p:txBody>
      </p:sp>
      <p:sp>
        <p:nvSpPr>
          <p:cNvPr id="15" name="Diamond 14"/>
          <p:cNvSpPr/>
          <p:nvPr/>
        </p:nvSpPr>
        <p:spPr>
          <a:xfrm>
            <a:off x="4407408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Budget Updates</a:t>
            </a:r>
            <a:br/>
            <a:r>
              <a:t>19 Feb</a:t>
            </a:r>
          </a:p>
        </p:txBody>
      </p:sp>
      <p:sp>
        <p:nvSpPr>
          <p:cNvPr id="17" name="Diamond 16"/>
          <p:cNvSpPr/>
          <p:nvPr/>
        </p:nvSpPr>
        <p:spPr>
          <a:xfrm>
            <a:off x="5724144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096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PTO Synergy</a:t>
            </a:r>
            <a:br/>
            <a:r>
              <a:t>30 Apr</a:t>
            </a:r>
          </a:p>
        </p:txBody>
      </p:sp>
      <p:sp>
        <p:nvSpPr>
          <p:cNvPr id="19" name="Diamond 18"/>
          <p:cNvSpPr/>
          <p:nvPr/>
        </p:nvSpPr>
        <p:spPr>
          <a:xfrm>
            <a:off x="6217920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VM Indirect</a:t>
            </a:r>
            <a:br/>
            <a:r>
              <a:t>31 May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2377439"/>
            <a:ext cx="121889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25603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Growth</a:t>
            </a:r>
            <a:br/>
            <a:r>
              <a:t>Releases</a:t>
            </a:r>
          </a:p>
        </p:txBody>
      </p:sp>
      <p:sp>
        <p:nvSpPr>
          <p:cNvPr id="23" name="Diamond 22"/>
          <p:cNvSpPr/>
          <p:nvPr/>
        </p:nvSpPr>
        <p:spPr>
          <a:xfrm>
            <a:off x="6793992" y="2697479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28346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Q2 Release</a:t>
            </a:r>
            <a:br/>
            <a:r>
              <a:t>30 Jun</a:t>
            </a:r>
          </a:p>
        </p:txBody>
      </p:sp>
      <p:sp>
        <p:nvSpPr>
          <p:cNvPr id="25" name="Diamond 24"/>
          <p:cNvSpPr/>
          <p:nvPr/>
        </p:nvSpPr>
        <p:spPr>
          <a:xfrm>
            <a:off x="8439912" y="2697479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55864" y="28346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Q3 Release</a:t>
            </a:r>
            <a:br/>
            <a:r>
              <a:t>30 Sep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39" y="822960"/>
            <a:ext cx="18288" cy="2560320"/>
          </a:xfrm>
          <a:prstGeom prst="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59" y="34747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0050"/>
                </a:solidFill>
              </a:defRPr>
            </a:pPr>
            <a:r>
              <a:t>Today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384048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L0/L1 milestones shown on separate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L0 &amp; L1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L0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097280"/>
            <a:ext cx="11887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L0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59" y="109728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17319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Calculator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417319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11 Feb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41731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59" y="1417319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3736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 Re-platform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7373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173736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05740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Operational Efficiencies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05740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57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59" y="2057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77439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Communications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2377439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7743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377439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69748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Case Segmentation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0" y="269748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697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59" y="2697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01752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Replacement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301752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Dec 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3017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59" y="3017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3657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L1 Milestones (Next 90 Days)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023360"/>
            <a:ext cx="292608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Milestone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402336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Parent L0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4023360"/>
            <a:ext cx="914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402336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34340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Governance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4343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34340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4343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66344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CBIS Rebranding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66344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46320" y="466344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46634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98348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10to8 Appointment Booking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4983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Ops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98348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18 Feb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4983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30352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Re-platform Clydesdale Direct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5303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530352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20 Feb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60720" y="5303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62356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Discovery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0" y="562356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46320" y="562356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56235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94360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Decision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594360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0" y="594360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03 Apr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59436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Risks &amp; Key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Open Risks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657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097280"/>
            <a:ext cx="1371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Workstream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097280"/>
            <a:ext cx="73152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097280"/>
            <a:ext cx="9144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097280"/>
            <a:ext cx="18288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not replaced before Dec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46304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46304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2880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Collate 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182880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2880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Mar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182880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9456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Design Support Availability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219456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9456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19456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19456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56032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QE Test Availability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256032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256032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 Terrance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Challenges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resource ramp-up - QE and Design availability constraints (Feb-Jun)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vendor decision pending (Apr) - Collate capability validation ongoing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Growth quarterly releases need scope clarity for Q2 and Q3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Direct Website FSMA cutover dependent on Part VII programme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