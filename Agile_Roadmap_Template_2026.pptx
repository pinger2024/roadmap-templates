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Value Stream 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914400"/>
            <a:ext cx="3017520" cy="82296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Michael James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Delivery Lead</a:t>
            </a:r>
          </a:p>
          <a:p>
            <a:pPr algn="ctr">
              <a:defRPr sz="1000" b="0" i="1">
                <a:solidFill>
                  <a:srgbClr val="1D1D4D"/>
                </a:solidFill>
              </a:defRPr>
            </a:pPr>
            <a:r>
              <a:t>Value Stream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1737360"/>
            <a:ext cx="18288" cy="45720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2194560"/>
            <a:ext cx="7589520" cy="18288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6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2194560"/>
            <a:ext cx="18288" cy="27432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Origination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Waracle, 10to8, Case Seg*</a:t>
            </a:r>
          </a:p>
          <a:p>
            <a:pPr algn="ctr">
              <a:defRPr sz="800" b="0" i="1">
                <a:solidFill>
                  <a:srgbClr val="888888"/>
                </a:solidFill>
              </a:defRPr>
            </a:pPr>
            <a:r>
              <a:t>*re-prioritised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BAU &amp; Direct Website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Re-platform, CBIS Rebrand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468880"/>
            <a:ext cx="3017520" cy="1097280"/>
          </a:xfrm>
          <a:prstGeom prst="roundRect">
            <a:avLst/>
          </a:prstGeom>
          <a:noFill/>
          <a:ln w="1905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800"/>
              </a:spcBef>
              <a:defRPr sz="1400" b="1" i="0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ctr">
              <a:defRPr sz="1100" b="0" i="1">
                <a:solidFill>
                  <a:srgbClr val="1D1D4D"/>
                </a:solidFill>
              </a:defRPr>
            </a:pPr>
            <a:r>
              <a:t>Graeme Cumming</a:t>
            </a:r>
          </a:p>
          <a:p>
            <a:pPr algn="ctr">
              <a:defRPr sz="900" b="0" i="0">
                <a:solidFill>
                  <a:srgbClr val="1D1D4D"/>
                </a:solidFill>
              </a:defRPr>
            </a:pPr>
            <a:r>
              <a:t>Collate Migration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Growth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Delivery</a:t>
            </a:r>
            <a:br/>
            <a:r>
              <a:t>2x QE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931920"/>
            <a:ext cx="320040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Brochureware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1x BA</a:t>
            </a:r>
            <a:br/>
            <a:r>
              <a:t>2x .NET Dev</a:t>
            </a:r>
            <a:br/>
            <a:r>
              <a:t>2x QE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3931920"/>
            <a:ext cx="3474720" cy="2286000"/>
          </a:xfrm>
          <a:prstGeom prst="roundRect">
            <a:avLst/>
          </a:prstGeom>
          <a:solidFill>
            <a:srgbClr val="E6EEF5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D1D4D"/>
                </a:solidFill>
              </a:defRPr>
            </a:pPr>
            <a:r>
              <a:t>SAM Replacement</a:t>
            </a:r>
          </a:p>
          <a:p>
            <a:pPr algn="l">
              <a:defRPr sz="1100">
                <a:solidFill>
                  <a:srgbClr val="1D1D4D"/>
                </a:solidFill>
              </a:defRPr>
            </a:pPr>
            <a:r>
              <a:t>3x BA</a:t>
            </a:r>
            <a:br/>
            <a:r>
              <a:t>2x Delivery</a:t>
            </a:r>
            <a:br/>
            <a:r>
              <a:t>1x Design</a:t>
            </a:r>
            <a:br/>
            <a:r>
              <a:t>3x Java Dev</a:t>
            </a:r>
            <a:br/>
            <a:r>
              <a:t>7x QE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731520"/>
            <a:ext cx="228600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D1D4D"/>
                </a:solidFill>
              </a:defRPr>
            </a:pPr>
            <a:r>
              <a:t>FY27: 26 FTE</a:t>
            </a:r>
          </a:p>
          <a:p>
            <a:br/>
            <a:pPr>
              <a:defRPr sz="1000">
                <a:solidFill>
                  <a:srgbClr val="1D1D4D"/>
                </a:solidFill>
              </a:defRPr>
            </a:pPr>
            <a:r>
              <a:t>Growth: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Brochureware: 5</a:t>
            </a:r>
          </a:p>
          <a:p>
            <a:pPr>
              <a:defRPr sz="1000">
                <a:solidFill>
                  <a:srgbClr val="1D1D4D"/>
                </a:solidFill>
              </a:defRPr>
            </a:pPr>
            <a:r>
              <a:t>SAM: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Mortgage Systems POAP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Q4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749039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Q1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Q2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Q3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Q4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66960" y="822960"/>
            <a:ext cx="1554480" cy="3200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2027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23444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" y="13716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Waracle</a:t>
            </a:r>
            <a:br/>
            <a:r>
              <a:t>Calculator</a:t>
            </a:r>
          </a:p>
        </p:txBody>
      </p:sp>
      <p:sp>
        <p:nvSpPr>
          <p:cNvPr id="15" name="Diamond 14"/>
          <p:cNvSpPr/>
          <p:nvPr/>
        </p:nvSpPr>
        <p:spPr>
          <a:xfrm>
            <a:off x="3918203" y="152704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6451" y="167335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Governance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27347" y="139903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Go Live</a:t>
            </a:r>
            <a:br/>
            <a:r>
              <a:t>11 Feb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224028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" y="237744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Direct</a:t>
            </a:r>
            <a:br/>
            <a:r>
              <a:t>Website</a:t>
            </a:r>
          </a:p>
        </p:txBody>
      </p:sp>
      <p:sp>
        <p:nvSpPr>
          <p:cNvPr id="20" name="Diamond 19"/>
          <p:cNvSpPr/>
          <p:nvPr/>
        </p:nvSpPr>
        <p:spPr>
          <a:xfrm>
            <a:off x="3995927" y="253288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94175" y="2679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CBIS</a:t>
            </a:r>
            <a:br/>
            <a:r>
              <a:t>Rebrand</a:t>
            </a:r>
          </a:p>
        </p:txBody>
      </p:sp>
      <p:sp>
        <p:nvSpPr>
          <p:cNvPr id="22" name="Diamond 21"/>
          <p:cNvSpPr/>
          <p:nvPr/>
        </p:nvSpPr>
        <p:spPr>
          <a:xfrm>
            <a:off x="4539996" y="253288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38244" y="267919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Re-platform</a:t>
            </a:r>
            <a:br/>
            <a:r>
              <a:t>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5483" y="240487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FSMA</a:t>
            </a:r>
            <a:br/>
            <a:r>
              <a:t>2 Apr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324612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338328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Growth</a:t>
            </a:r>
          </a:p>
        </p:txBody>
      </p:sp>
      <p:sp>
        <p:nvSpPr>
          <p:cNvPr id="27" name="Diamond 26"/>
          <p:cNvSpPr/>
          <p:nvPr/>
        </p:nvSpPr>
        <p:spPr>
          <a:xfrm>
            <a:off x="4384547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82795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10to8</a:t>
            </a:r>
            <a:br/>
            <a:r>
              <a:t>18 Feb</a:t>
            </a:r>
          </a:p>
        </p:txBody>
      </p:sp>
      <p:sp>
        <p:nvSpPr>
          <p:cNvPr id="29" name="Diamond 28"/>
          <p:cNvSpPr/>
          <p:nvPr/>
        </p:nvSpPr>
        <p:spPr>
          <a:xfrm>
            <a:off x="6716268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4516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Q2</a:t>
            </a:r>
            <a:br/>
            <a:r>
              <a:t>Release</a:t>
            </a:r>
          </a:p>
        </p:txBody>
      </p:sp>
      <p:sp>
        <p:nvSpPr>
          <p:cNvPr id="31" name="Diamond 30"/>
          <p:cNvSpPr/>
          <p:nvPr/>
        </p:nvSpPr>
        <p:spPr>
          <a:xfrm>
            <a:off x="8270748" y="353872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8996" y="368503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Q3</a:t>
            </a:r>
            <a:br/>
            <a:r>
              <a:t>Release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67544" y="3410712"/>
            <a:ext cx="777240" cy="640080"/>
          </a:xfrm>
          <a:prstGeom prst="roundRect">
            <a:avLst/>
          </a:prstGeom>
          <a:solidFill>
            <a:srgbClr val="36B37E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FY27</a:t>
            </a:r>
            <a:br/>
            <a:r>
              <a:t>31 Mar 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4251960"/>
            <a:ext cx="12188952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7160" y="438912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Brochureware</a:t>
            </a:r>
            <a:br/>
            <a:r>
              <a:t>BAU</a:t>
            </a:r>
          </a:p>
        </p:txBody>
      </p:sp>
      <p:sp>
        <p:nvSpPr>
          <p:cNvPr id="36" name="Diamond 35"/>
          <p:cNvSpPr/>
          <p:nvPr/>
        </p:nvSpPr>
        <p:spPr>
          <a:xfrm>
            <a:off x="4462271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60519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Budget</a:t>
            </a:r>
            <a:br/>
            <a:r>
              <a:t>Updates</a:t>
            </a:r>
          </a:p>
        </p:txBody>
      </p:sp>
      <p:sp>
        <p:nvSpPr>
          <p:cNvPr id="38" name="Diamond 37"/>
          <p:cNvSpPr/>
          <p:nvPr/>
        </p:nvSpPr>
        <p:spPr>
          <a:xfrm>
            <a:off x="5783579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1827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PTO</a:t>
            </a:r>
            <a:br/>
            <a:r>
              <a:t>Synergy</a:t>
            </a:r>
          </a:p>
        </p:txBody>
      </p:sp>
      <p:sp>
        <p:nvSpPr>
          <p:cNvPr id="40" name="Diamond 39"/>
          <p:cNvSpPr/>
          <p:nvPr/>
        </p:nvSpPr>
        <p:spPr>
          <a:xfrm>
            <a:off x="6249923" y="454456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8171" y="469087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VM</a:t>
            </a:r>
            <a:br/>
            <a:r>
              <a:t>Indirect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257800"/>
            <a:ext cx="12188952" cy="1005840"/>
          </a:xfrm>
          <a:prstGeom prst="rect">
            <a:avLst/>
          </a:prstGeom>
          <a:solidFill>
            <a:srgbClr val="E6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7160" y="539496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D1D4D"/>
                </a:solidFill>
              </a:defRPr>
            </a:pPr>
            <a:r>
              <a:t>SAM</a:t>
            </a:r>
            <a:br/>
            <a:r>
              <a:t>Replacement</a:t>
            </a:r>
          </a:p>
        </p:txBody>
      </p:sp>
      <p:sp>
        <p:nvSpPr>
          <p:cNvPr id="44" name="Diamond 43"/>
          <p:cNvSpPr/>
          <p:nvPr/>
        </p:nvSpPr>
        <p:spPr>
          <a:xfrm>
            <a:off x="4850892" y="555040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49140" y="569671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Discovery</a:t>
            </a:r>
            <a:br/>
            <a:r>
              <a:t>27 Feb</a:t>
            </a:r>
          </a:p>
        </p:txBody>
      </p:sp>
      <p:sp>
        <p:nvSpPr>
          <p:cNvPr id="46" name="Diamond 45"/>
          <p:cNvSpPr/>
          <p:nvPr/>
        </p:nvSpPr>
        <p:spPr>
          <a:xfrm>
            <a:off x="5317236" y="5550408"/>
            <a:ext cx="128016" cy="128016"/>
          </a:xfrm>
          <a:prstGeom prst="diamond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15483" y="5696712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>
                <a:solidFill>
                  <a:srgbClr val="1D1D4D"/>
                </a:solidFill>
              </a:defRPr>
            </a:pPr>
            <a:r>
              <a:t>Decision</a:t>
            </a:r>
            <a:br/>
            <a:r>
              <a:t>3 Apr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290303" y="5422392"/>
            <a:ext cx="777240" cy="640080"/>
          </a:xfrm>
          <a:prstGeom prst="roundRect">
            <a:avLst/>
          </a:prstGeom>
          <a:solidFill>
            <a:srgbClr val="FF991F"/>
          </a:solidFill>
          <a:ln w="12700">
            <a:solidFill>
              <a:srgbClr val="1D1D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L0: Go Live</a:t>
            </a:r>
            <a:br/>
            <a:r>
              <a:t>Dec 26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0479" y="822960"/>
            <a:ext cx="18288" cy="5120640"/>
          </a:xfrm>
          <a:prstGeom prst="rect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599" y="59893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0050"/>
                </a:solidFill>
              </a:defRPr>
            </a:pPr>
            <a:r>
              <a:t>Today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" y="63093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66666"/>
                </a:solidFill>
              </a:defRPr>
            </a:pPr>
            <a:r>
              <a:t>◆ L1 Milestone     ▢ L0 Target (Green = On Track, Amber = TBC)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L0 &amp; L1 Milestones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L0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200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Objective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097280"/>
            <a:ext cx="11887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L0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94959" y="109728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1417319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 Calculator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1417319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11 Feb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3440" y="141731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59" y="1417319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3736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 Re-platform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173736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02 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17373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59" y="173736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05740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Operational Efficiencies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0" y="205740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57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94959" y="2057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2377439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Communications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2377439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63440" y="2377439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59" y="2377439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697480"/>
            <a:ext cx="3200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- Case Segmentation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0" y="2697480"/>
            <a:ext cx="11887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Mar 2027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2697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94959" y="2697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Michael James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3017520"/>
            <a:ext cx="3200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Replacement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0" y="3017520"/>
            <a:ext cx="11887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31 Dec 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63440" y="3017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94959" y="3017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" y="36576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L1 Milestones (Next 90 Days)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23360"/>
            <a:ext cx="292608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Milestone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0" y="4023360"/>
            <a:ext cx="16459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Parent L0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846320" y="4023360"/>
            <a:ext cx="91440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Due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60720" y="4023360"/>
            <a:ext cx="731520" cy="320040"/>
          </a:xfrm>
          <a:prstGeom prst="rect">
            <a:avLst/>
          </a:prstGeom>
          <a:solidFill>
            <a:srgbClr val="1D1D4D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434340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 AFCALC Governance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434340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Waracle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434340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43434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66344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CBIS Rebranding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0" y="466344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46320" y="466344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10 Feb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60720" y="466344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498348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10to8 Appointment Booking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0" y="498348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Growth Ops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498348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18 Feb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720" y="498348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530352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Re-platform Clydesdale Direct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0" y="530352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Direct Website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530352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20 Feb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760720" y="530352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4320" y="5623560"/>
            <a:ext cx="292608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Discovery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200400" y="5623560"/>
            <a:ext cx="164592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46320" y="5623560"/>
            <a:ext cx="914400" cy="3200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60720" y="562356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5943600"/>
            <a:ext cx="292608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Decision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0" y="5943600"/>
            <a:ext cx="164592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846320" y="5943600"/>
            <a:ext cx="914400" cy="320040"/>
          </a:xfrm>
          <a:prstGeom prst="rect">
            <a:avLst/>
          </a:prstGeom>
          <a:solidFill>
            <a:srgbClr val="E6EEF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03 Apr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760720" y="5943600"/>
            <a:ext cx="731520" cy="320040"/>
          </a:xfrm>
          <a:prstGeom prst="rect">
            <a:avLst/>
          </a:prstGeom>
          <a:solidFill>
            <a:srgbClr val="36B37E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Green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D1D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320" y="109728"/>
            <a:ext cx="320040" cy="320040"/>
          </a:xfrm>
          <a:prstGeom prst="ellipse">
            <a:avLst/>
          </a:prstGeom>
          <a:solidFill>
            <a:srgbClr val="E5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Risks &amp; Key Challenges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13716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600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58368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9999"/>
                </a:solidFill>
              </a:defRPr>
            </a:pPr>
            <a:r>
              <a:t>NBS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7315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Open Risks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097280"/>
            <a:ext cx="3657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100" b="1">
                <a:solidFill>
                  <a:srgbClr val="FFFFFF"/>
                </a:solidFill>
              </a:defRPr>
            </a:pPr>
            <a:r>
              <a:t>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0" y="1097280"/>
            <a:ext cx="13716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Workstream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1097280"/>
            <a:ext cx="73152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097280"/>
            <a:ext cx="9144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097280"/>
            <a:ext cx="1828800" cy="365760"/>
          </a:xfrm>
          <a:prstGeom prst="rect">
            <a:avLst/>
          </a:prstGeom>
          <a:solidFill>
            <a:srgbClr val="1D1D4D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Owner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46304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SAM not replaced before Dec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46304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03520" y="146304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146304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Feb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49440" y="146304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182880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Collate Capabilities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0" y="182880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82880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82880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27 Mar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0" y="182880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219456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Design Support Availability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219456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19456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219456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Prashant Nair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60320"/>
            <a:ext cx="3657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000" b="0">
                <a:solidFill>
                  <a:srgbClr val="1D1D4D"/>
                </a:solidFill>
              </a:defRPr>
            </a:pPr>
            <a:r>
              <a:t>QE Test Availability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31920" y="2560320"/>
            <a:ext cx="13716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03520" y="2560320"/>
            <a:ext cx="731520" cy="365760"/>
          </a:xfrm>
          <a:prstGeom prst="rect">
            <a:avLst/>
          </a:prstGeom>
          <a:solidFill>
            <a:srgbClr val="FF991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FFFFFF"/>
                </a:solidFill>
              </a:defRPr>
            </a:pPr>
            <a:r>
              <a:t>Amber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2560320"/>
            <a:ext cx="9144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28 Feb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0">
                <a:solidFill>
                  <a:srgbClr val="1D1D4D"/>
                </a:solidFill>
              </a:defRPr>
            </a:pPr>
            <a:r>
              <a:t>Sam Terrance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274320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D1D4D"/>
                </a:solidFill>
              </a:defRPr>
            </a:pPr>
            <a:r>
              <a:t>Key Challenges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" y="31089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resource ramp-up - QE and Design availability constraints (Feb-Jun)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SAM vendor decision pending (Apr) - Collate capability validation ongoing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Growth quarterly releases need scope clarity for Q2 and Q3</a:t>
            </a:r>
          </a:p>
          <a:p>
            <a:pPr>
              <a:spcAft>
                <a:spcPts val="800"/>
              </a:spcAft>
              <a:defRPr sz="1200">
                <a:solidFill>
                  <a:srgbClr val="1D1D4D"/>
                </a:solidFill>
              </a:defRPr>
            </a:pPr>
            <a:r>
              <a:t>• Direct Website FSMA cutover dependent on Part VII programme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