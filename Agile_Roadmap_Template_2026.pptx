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Mortgage Systems Value Stream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914400"/>
            <a:ext cx="3017520" cy="82296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Michael James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Delivery Lead</a:t>
            </a:r>
          </a:p>
          <a:p>
            <a:pPr algn="ctr">
              <a:defRPr sz="1000" b="0" i="1">
                <a:solidFill>
                  <a:srgbClr val="1D1D4D"/>
                </a:solidFill>
              </a:defRPr>
            </a:pPr>
            <a:r>
              <a:t>Value Stream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737360"/>
            <a:ext cx="18288" cy="45720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2194560"/>
            <a:ext cx="7589520" cy="18288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0" y="2194560"/>
            <a:ext cx="18288" cy="27432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2194560"/>
            <a:ext cx="18288" cy="27432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0" y="2194560"/>
            <a:ext cx="18288" cy="27432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468880"/>
            <a:ext cx="3017520" cy="109728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Growth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Origination</a:t>
            </a:r>
          </a:p>
          <a:p>
            <a:pPr algn="ctr">
              <a:defRPr sz="900" b="0" i="0">
                <a:solidFill>
                  <a:srgbClr val="1D1D4D"/>
                </a:solidFill>
              </a:defRPr>
            </a:pPr>
            <a:r>
              <a:t>Waracle, 10to8, Case Seg*</a:t>
            </a:r>
          </a:p>
          <a:p>
            <a:pPr algn="ctr">
              <a:defRPr sz="800" b="0" i="1">
                <a:solidFill>
                  <a:srgbClr val="888888"/>
                </a:solidFill>
              </a:defRPr>
            </a:pPr>
            <a:r>
              <a:t>*re-prioritised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468880"/>
            <a:ext cx="3017520" cy="109728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Brochureware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BAU &amp; Direct Website</a:t>
            </a:r>
          </a:p>
          <a:p>
            <a:pPr algn="ctr">
              <a:defRPr sz="900" b="0" i="0">
                <a:solidFill>
                  <a:srgbClr val="1D1D4D"/>
                </a:solidFill>
              </a:defRPr>
            </a:pPr>
            <a:r>
              <a:t>Re-platform, CBIS Rebrand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2468880"/>
            <a:ext cx="3017520" cy="109728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SAM Replacement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Graeme Cumming</a:t>
            </a:r>
          </a:p>
          <a:p>
            <a:pPr algn="ctr">
              <a:defRPr sz="900" b="0" i="0">
                <a:solidFill>
                  <a:srgbClr val="1D1D4D"/>
                </a:solidFill>
              </a:defRPr>
            </a:pPr>
            <a:r>
              <a:t>Collate 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320040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D1D4D"/>
                </a:solidFill>
              </a:defRPr>
            </a:pPr>
            <a:r>
              <a:t>Growth</a:t>
            </a:r>
          </a:p>
          <a:p>
            <a:pPr algn="l">
              <a:defRPr sz="1100">
                <a:solidFill>
                  <a:srgbClr val="1D1D4D"/>
                </a:solidFill>
              </a:defRPr>
            </a:pPr>
            <a:r>
              <a:t>1x BA</a:t>
            </a:r>
            <a:br/>
            <a:r>
              <a:t>2x Delivery</a:t>
            </a:r>
            <a:br/>
            <a:r>
              <a:t>2x QE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931920"/>
            <a:ext cx="320040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D1D4D"/>
                </a:solidFill>
              </a:defRPr>
            </a:pPr>
            <a:r>
              <a:t>Brochureware</a:t>
            </a:r>
          </a:p>
          <a:p>
            <a:pPr algn="l">
              <a:defRPr sz="1100">
                <a:solidFill>
                  <a:srgbClr val="1D1D4D"/>
                </a:solidFill>
              </a:defRPr>
            </a:pPr>
            <a:r>
              <a:t>1x BA</a:t>
            </a:r>
            <a:br/>
            <a:r>
              <a:t>2x .NET Dev</a:t>
            </a:r>
            <a:br/>
            <a:r>
              <a:t>2x QE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931920"/>
            <a:ext cx="347472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D1D4D"/>
                </a:solidFill>
              </a:defRPr>
            </a:pPr>
            <a:r>
              <a:t>SAM Replacement</a:t>
            </a:r>
          </a:p>
          <a:p>
            <a:pPr algn="l">
              <a:defRPr sz="1100">
                <a:solidFill>
                  <a:srgbClr val="1D1D4D"/>
                </a:solidFill>
              </a:defRPr>
            </a:pPr>
            <a:r>
              <a:t>3x BA</a:t>
            </a:r>
            <a:br/>
            <a:r>
              <a:t>2x Delivery</a:t>
            </a:r>
            <a:br/>
            <a:r>
              <a:t>1x Design</a:t>
            </a:r>
            <a:br/>
            <a:r>
              <a:t>3x Java Dev</a:t>
            </a:r>
            <a:br/>
            <a:r>
              <a:t>7x QE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0" y="731520"/>
            <a:ext cx="22860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D1D4D"/>
                </a:solidFill>
              </a:defRPr>
            </a:pPr>
            <a:r>
              <a:t>FY27: 26 FTE</a:t>
            </a:r>
          </a:p>
          <a:p>
            <a:br/>
            <a:pPr>
              <a:defRPr sz="1000">
                <a:solidFill>
                  <a:srgbClr val="1D1D4D"/>
                </a:solidFill>
              </a:defRPr>
            </a:pPr>
            <a:r>
              <a:t>Growth: 5</a:t>
            </a:r>
          </a:p>
          <a:p>
            <a:pPr>
              <a:defRPr sz="1000">
                <a:solidFill>
                  <a:srgbClr val="1D1D4D"/>
                </a:solidFill>
              </a:defRPr>
            </a:pPr>
            <a:r>
              <a:t>Brochureware: 5</a:t>
            </a:r>
          </a:p>
          <a:p>
            <a:pPr>
              <a:defRPr sz="1000">
                <a:solidFill>
                  <a:srgbClr val="1D1D4D"/>
                </a:solidFill>
              </a:defRPr>
            </a:pPr>
            <a:r>
              <a:t>SAM: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Mortgage Systems POAP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194560" y="822960"/>
            <a:ext cx="155448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Q4 2025</a:t>
            </a:r>
          </a:p>
        </p:txBody>
      </p:sp>
      <p:sp>
        <p:nvSpPr>
          <p:cNvPr id="8" name="Rectangle 7"/>
          <p:cNvSpPr/>
          <p:nvPr/>
        </p:nvSpPr>
        <p:spPr>
          <a:xfrm>
            <a:off x="3749039" y="822960"/>
            <a:ext cx="155448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Q1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822960"/>
            <a:ext cx="155448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Q2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0" y="822960"/>
            <a:ext cx="155448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Q3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0" y="822960"/>
            <a:ext cx="155448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Q4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66960" y="822960"/>
            <a:ext cx="155448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2027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234440"/>
            <a:ext cx="12188952" cy="100584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" y="13716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1D4D"/>
                </a:solidFill>
              </a:defRPr>
            </a:pPr>
            <a:r>
              <a:t>Waracle</a:t>
            </a:r>
            <a:br/>
            <a:r>
              <a:t>Calculator</a:t>
            </a:r>
          </a:p>
        </p:txBody>
      </p:sp>
      <p:sp>
        <p:nvSpPr>
          <p:cNvPr id="15" name="Diamond 14"/>
          <p:cNvSpPr/>
          <p:nvPr/>
        </p:nvSpPr>
        <p:spPr>
          <a:xfrm>
            <a:off x="3918203" y="1527048"/>
            <a:ext cx="128016" cy="128016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6451" y="167335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1D1D4D"/>
                </a:solidFill>
              </a:defRPr>
            </a:pPr>
            <a:r>
              <a:t>Governance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27347" y="1399032"/>
            <a:ext cx="777240" cy="640080"/>
          </a:xfrm>
          <a:prstGeom prst="roundRect">
            <a:avLst/>
          </a:prstGeom>
          <a:solidFill>
            <a:srgbClr val="36B37E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L0: Go Live</a:t>
            </a:r>
            <a:br/>
            <a:r>
              <a:t>11 Feb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2240280"/>
            <a:ext cx="12188952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" y="237744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1D4D"/>
                </a:solidFill>
              </a:defRPr>
            </a:pPr>
            <a:r>
              <a:t>Direct</a:t>
            </a:r>
            <a:br/>
            <a:r>
              <a:t>Website</a:t>
            </a:r>
          </a:p>
        </p:txBody>
      </p:sp>
      <p:sp>
        <p:nvSpPr>
          <p:cNvPr id="20" name="Diamond 19"/>
          <p:cNvSpPr/>
          <p:nvPr/>
        </p:nvSpPr>
        <p:spPr>
          <a:xfrm>
            <a:off x="3995927" y="2532888"/>
            <a:ext cx="128016" cy="128016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94175" y="267919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1D1D4D"/>
                </a:solidFill>
              </a:defRPr>
            </a:pPr>
            <a:r>
              <a:t>CBIS</a:t>
            </a:r>
            <a:br/>
            <a:r>
              <a:t>Rebrand</a:t>
            </a:r>
          </a:p>
        </p:txBody>
      </p:sp>
      <p:sp>
        <p:nvSpPr>
          <p:cNvPr id="22" name="Diamond 21"/>
          <p:cNvSpPr/>
          <p:nvPr/>
        </p:nvSpPr>
        <p:spPr>
          <a:xfrm>
            <a:off x="4539996" y="2532888"/>
            <a:ext cx="128016" cy="128016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38244" y="267919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1D1D4D"/>
                </a:solidFill>
              </a:defRPr>
            </a:pPr>
            <a:r>
              <a:t>Re-platform</a:t>
            </a:r>
            <a:br/>
            <a:r>
              <a:t>Build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5483" y="2404872"/>
            <a:ext cx="777240" cy="640080"/>
          </a:xfrm>
          <a:prstGeom prst="roundRect">
            <a:avLst/>
          </a:prstGeom>
          <a:solidFill>
            <a:srgbClr val="36B37E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L0: FSMA</a:t>
            </a:r>
            <a:br/>
            <a:r>
              <a:t>2 Apr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3246120"/>
            <a:ext cx="12188952" cy="100584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33832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1D4D"/>
                </a:solidFill>
              </a:defRPr>
            </a:pPr>
            <a:r>
              <a:t>Growth</a:t>
            </a:r>
          </a:p>
        </p:txBody>
      </p:sp>
      <p:sp>
        <p:nvSpPr>
          <p:cNvPr id="27" name="Diamond 26"/>
          <p:cNvSpPr/>
          <p:nvPr/>
        </p:nvSpPr>
        <p:spPr>
          <a:xfrm>
            <a:off x="4384547" y="3538728"/>
            <a:ext cx="128016" cy="128016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82795" y="368503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1D1D4D"/>
                </a:solidFill>
              </a:defRPr>
            </a:pPr>
            <a:r>
              <a:t>10to8</a:t>
            </a:r>
            <a:br/>
            <a:r>
              <a:t>18 Feb</a:t>
            </a:r>
          </a:p>
        </p:txBody>
      </p:sp>
      <p:sp>
        <p:nvSpPr>
          <p:cNvPr id="29" name="Diamond 28"/>
          <p:cNvSpPr/>
          <p:nvPr/>
        </p:nvSpPr>
        <p:spPr>
          <a:xfrm>
            <a:off x="6716268" y="3538728"/>
            <a:ext cx="128016" cy="128016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4516" y="368503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1D1D4D"/>
                </a:solidFill>
              </a:defRPr>
            </a:pPr>
            <a:r>
              <a:t>Q2</a:t>
            </a:r>
            <a:br/>
            <a:r>
              <a:t>Release</a:t>
            </a:r>
          </a:p>
        </p:txBody>
      </p:sp>
      <p:sp>
        <p:nvSpPr>
          <p:cNvPr id="31" name="Diamond 30"/>
          <p:cNvSpPr/>
          <p:nvPr/>
        </p:nvSpPr>
        <p:spPr>
          <a:xfrm>
            <a:off x="8270748" y="3538728"/>
            <a:ext cx="128016" cy="128016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8996" y="368503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1D1D4D"/>
                </a:solidFill>
              </a:defRPr>
            </a:pPr>
            <a:r>
              <a:t>Q3</a:t>
            </a:r>
            <a:br/>
            <a:r>
              <a:t>Release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67544" y="3410712"/>
            <a:ext cx="777240" cy="640080"/>
          </a:xfrm>
          <a:prstGeom prst="roundRect">
            <a:avLst/>
          </a:prstGeom>
          <a:solidFill>
            <a:srgbClr val="36B37E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L0: FY27</a:t>
            </a:r>
            <a:br/>
            <a:r>
              <a:t>31 Mar 27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4251960"/>
            <a:ext cx="12188952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7160" y="438912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1D4D"/>
                </a:solidFill>
              </a:defRPr>
            </a:pPr>
            <a:r>
              <a:t>Brochureware</a:t>
            </a:r>
            <a:br/>
            <a:r>
              <a:t>BAU</a:t>
            </a:r>
          </a:p>
        </p:txBody>
      </p:sp>
      <p:sp>
        <p:nvSpPr>
          <p:cNvPr id="36" name="Diamond 35"/>
          <p:cNvSpPr/>
          <p:nvPr/>
        </p:nvSpPr>
        <p:spPr>
          <a:xfrm>
            <a:off x="4462271" y="4544568"/>
            <a:ext cx="128016" cy="128016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60519" y="469087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1D1D4D"/>
                </a:solidFill>
              </a:defRPr>
            </a:pPr>
            <a:r>
              <a:t>Budget</a:t>
            </a:r>
            <a:br/>
            <a:r>
              <a:t>Updates</a:t>
            </a:r>
          </a:p>
        </p:txBody>
      </p:sp>
      <p:sp>
        <p:nvSpPr>
          <p:cNvPr id="38" name="Diamond 37"/>
          <p:cNvSpPr/>
          <p:nvPr/>
        </p:nvSpPr>
        <p:spPr>
          <a:xfrm>
            <a:off x="5783579" y="4544568"/>
            <a:ext cx="128016" cy="128016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1827" y="469087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1D1D4D"/>
                </a:solidFill>
              </a:defRPr>
            </a:pPr>
            <a:r>
              <a:t>PTO</a:t>
            </a:r>
            <a:br/>
            <a:r>
              <a:t>Synergy</a:t>
            </a:r>
          </a:p>
        </p:txBody>
      </p:sp>
      <p:sp>
        <p:nvSpPr>
          <p:cNvPr id="40" name="Diamond 39"/>
          <p:cNvSpPr/>
          <p:nvPr/>
        </p:nvSpPr>
        <p:spPr>
          <a:xfrm>
            <a:off x="6249923" y="4544568"/>
            <a:ext cx="128016" cy="128016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8171" y="469087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1D1D4D"/>
                </a:solidFill>
              </a:defRPr>
            </a:pPr>
            <a:r>
              <a:t>VM</a:t>
            </a:r>
            <a:br/>
            <a:r>
              <a:t>Indirect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257800"/>
            <a:ext cx="12188952" cy="100584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7160" y="53949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1D4D"/>
                </a:solidFill>
              </a:defRPr>
            </a:pPr>
            <a:r>
              <a:t>SAM</a:t>
            </a:r>
            <a:br/>
            <a:r>
              <a:t>Replacement</a:t>
            </a:r>
          </a:p>
        </p:txBody>
      </p:sp>
      <p:sp>
        <p:nvSpPr>
          <p:cNvPr id="44" name="Diamond 43"/>
          <p:cNvSpPr/>
          <p:nvPr/>
        </p:nvSpPr>
        <p:spPr>
          <a:xfrm>
            <a:off x="4850892" y="5550408"/>
            <a:ext cx="128016" cy="128016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49140" y="569671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1D1D4D"/>
                </a:solidFill>
              </a:defRPr>
            </a:pPr>
            <a:r>
              <a:t>Discovery</a:t>
            </a:r>
            <a:br/>
            <a:r>
              <a:t>27 Feb</a:t>
            </a:r>
          </a:p>
        </p:txBody>
      </p:sp>
      <p:sp>
        <p:nvSpPr>
          <p:cNvPr id="46" name="Diamond 45"/>
          <p:cNvSpPr/>
          <p:nvPr/>
        </p:nvSpPr>
        <p:spPr>
          <a:xfrm>
            <a:off x="5317236" y="5550408"/>
            <a:ext cx="128016" cy="128016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15483" y="569671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1D1D4D"/>
                </a:solidFill>
              </a:defRPr>
            </a:pPr>
            <a:r>
              <a:t>Decision</a:t>
            </a:r>
            <a:br/>
            <a:r>
              <a:t>3 Apr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290303" y="5422392"/>
            <a:ext cx="777240" cy="640080"/>
          </a:xfrm>
          <a:prstGeom prst="roundRect">
            <a:avLst/>
          </a:prstGeom>
          <a:solidFill>
            <a:srgbClr val="FF991F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L0: Go Live</a:t>
            </a:r>
            <a:br/>
            <a:r>
              <a:t>Dec 26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79" y="822960"/>
            <a:ext cx="18288" cy="5120640"/>
          </a:xfrm>
          <a:prstGeom prst="rect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599" y="59893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E50050"/>
                </a:solidFill>
              </a:defRPr>
            </a:pPr>
            <a:r>
              <a:t>Today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4320" y="63093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◆ L1 Milestone     ▢ L0 Target (Green = On Track, Amber = TBC)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Workstream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914400"/>
            <a:ext cx="274320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914400"/>
            <a:ext cx="2743200" cy="457200"/>
          </a:xfrm>
          <a:prstGeom prst="rect">
            <a:avLst/>
          </a:prstGeom>
          <a:solidFill>
            <a:srgbClr val="36B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987552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Waracle Calculator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173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D1D4D"/>
                </a:solidFill>
              </a:defRPr>
            </a:pPr>
            <a:r>
              <a:t>L0 Target: 11 Feb 2026</a:t>
            </a:r>
          </a:p>
          <a:p>
            <a:pPr>
              <a:defRPr sz="900">
                <a:solidFill>
                  <a:srgbClr val="1D1D4D"/>
                </a:solidFill>
              </a:defRPr>
            </a:pPr>
            <a:r>
              <a:t>Owner: Michael James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2560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1D1D4D"/>
                </a:solidFill>
              </a:defRPr>
            </a:pPr>
            <a:r>
              <a:t>• Replace 3rd party affordability calculator</a:t>
            </a:r>
          </a:p>
          <a:p>
            <a:pPr>
              <a:spcAft>
                <a:spcPts val="400"/>
              </a:spcAft>
              <a:defRPr sz="900">
                <a:solidFill>
                  <a:srgbClr val="1D1D4D"/>
                </a:solidFill>
              </a:defRPr>
            </a:pPr>
            <a:r>
              <a:t>• Reduce dependency on external vendor</a:t>
            </a:r>
          </a:p>
          <a:p>
            <a:pPr>
              <a:spcAft>
                <a:spcPts val="400"/>
              </a:spcAft>
              <a:defRPr sz="900">
                <a:solidFill>
                  <a:srgbClr val="1D1D4D"/>
                </a:solidFill>
              </a:defRPr>
            </a:pPr>
            <a:r>
              <a:t>• Scottish Budget compliance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914400"/>
            <a:ext cx="274320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914400"/>
            <a:ext cx="2743200" cy="457200"/>
          </a:xfrm>
          <a:prstGeom prst="rect">
            <a:avLst/>
          </a:prstGeom>
          <a:solidFill>
            <a:srgbClr val="36B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987552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Direct Website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14173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D1D4D"/>
                </a:solidFill>
              </a:defRPr>
            </a:pPr>
            <a:r>
              <a:t>L0 Target: 02 Apr 2026</a:t>
            </a:r>
          </a:p>
          <a:p>
            <a:pPr>
              <a:defRPr sz="900">
                <a:solidFill>
                  <a:srgbClr val="1D1D4D"/>
                </a:solidFill>
              </a:defRPr>
            </a:pPr>
            <a:r>
              <a:t>Owner: Michael James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1920240"/>
            <a:ext cx="2560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1D1D4D"/>
                </a:solidFill>
              </a:defRPr>
            </a:pPr>
            <a:r>
              <a:t>• CBIS rebranding for Nationwide</a:t>
            </a:r>
          </a:p>
          <a:p>
            <a:pPr>
              <a:spcAft>
                <a:spcPts val="400"/>
              </a:spcAft>
              <a:defRPr sz="900">
                <a:solidFill>
                  <a:srgbClr val="1D1D4D"/>
                </a:solidFill>
              </a:defRPr>
            </a:pPr>
            <a:r>
              <a:t>• Clydesdale Direct re-platform</a:t>
            </a:r>
          </a:p>
          <a:p>
            <a:pPr>
              <a:spcAft>
                <a:spcPts val="400"/>
              </a:spcAft>
              <a:defRPr sz="900">
                <a:solidFill>
                  <a:srgbClr val="1D1D4D"/>
                </a:solidFill>
              </a:defRPr>
            </a:pPr>
            <a:r>
              <a:t>• FSMA Part VII compliance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914400"/>
            <a:ext cx="274320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914400"/>
            <a:ext cx="2743200" cy="457200"/>
          </a:xfrm>
          <a:prstGeom prst="rect">
            <a:avLst/>
          </a:prstGeom>
          <a:solidFill>
            <a:srgbClr val="36B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987552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4173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D1D4D"/>
                </a:solidFill>
              </a:defRPr>
            </a:pPr>
            <a:r>
              <a:t>L0 Target: 31 Mar 2027</a:t>
            </a:r>
          </a:p>
          <a:p>
            <a:pPr>
              <a:defRPr sz="900">
                <a:solidFill>
                  <a:srgbClr val="1D1D4D"/>
                </a:solidFill>
              </a:defRPr>
            </a:pPr>
            <a:r>
              <a:t>Owner: Michael James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920240"/>
            <a:ext cx="2560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1D1D4D"/>
                </a:solidFill>
              </a:defRPr>
            </a:pPr>
            <a:r>
              <a:t>• 10to8 appointment booking &amp; live chat</a:t>
            </a:r>
          </a:p>
          <a:p>
            <a:pPr>
              <a:spcAft>
                <a:spcPts val="400"/>
              </a:spcAft>
              <a:defRPr sz="900">
                <a:solidFill>
                  <a:srgbClr val="1D1D4D"/>
                </a:solidFill>
              </a:defRPr>
            </a:pPr>
            <a:r>
              <a:t>• Operational efficiencies</a:t>
            </a:r>
          </a:p>
          <a:p>
            <a:pPr>
              <a:spcAft>
                <a:spcPts val="400"/>
              </a:spcAft>
              <a:defRPr sz="900">
                <a:solidFill>
                  <a:srgbClr val="1D1D4D"/>
                </a:solidFill>
              </a:defRPr>
            </a:pPr>
            <a:r>
              <a:t>• Broker communications improvements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914400"/>
            <a:ext cx="274320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914400"/>
            <a:ext cx="2743200" cy="457200"/>
          </a:xfrm>
          <a:prstGeom prst="rect">
            <a:avLst/>
          </a:prstGeom>
          <a:solidFill>
            <a:srgbClr val="FF9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987552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SAM Replacement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4173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D1D4D"/>
                </a:solidFill>
              </a:defRPr>
            </a:pPr>
            <a:r>
              <a:t>L0 Target: Dec 2026</a:t>
            </a:r>
          </a:p>
          <a:p>
            <a:pPr>
              <a:defRPr sz="900">
                <a:solidFill>
                  <a:srgbClr val="1D1D4D"/>
                </a:solidFill>
              </a:defRPr>
            </a:pPr>
            <a:r>
              <a:t>Owner: Prashant Nair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1920240"/>
            <a:ext cx="2560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1D1D4D"/>
                </a:solidFill>
              </a:defRPr>
            </a:pPr>
            <a:r>
              <a:t>• Replace Security Activity Management system</a:t>
            </a:r>
          </a:p>
          <a:p>
            <a:pPr>
              <a:spcAft>
                <a:spcPts val="400"/>
              </a:spcAft>
              <a:defRPr sz="900">
                <a:solidFill>
                  <a:srgbClr val="1D1D4D"/>
                </a:solidFill>
              </a:defRPr>
            </a:pPr>
            <a:r>
              <a:t>• Migrate to Collate (subject to decision)</a:t>
            </a:r>
          </a:p>
          <a:p>
            <a:pPr>
              <a:spcAft>
                <a:spcPts val="400"/>
              </a:spcAft>
              <a:defRPr sz="900">
                <a:solidFill>
                  <a:srgbClr val="1D1D4D"/>
                </a:solidFill>
              </a:defRPr>
            </a:pPr>
            <a:r>
              <a:t>• Decommission legacy SAM by support 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657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1D1D4D"/>
                </a:solidFill>
              </a:defRPr>
            </a:pPr>
            <a:r>
              <a:t>4 Active Workstreams  •  3 Green / 1 Amber  •  Next milestone: Waracle 11 Feb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Risks &amp; Key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731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Open Risks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6576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Risk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1097280"/>
            <a:ext cx="13716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Workstream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1097280"/>
            <a:ext cx="73152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097280"/>
            <a:ext cx="9144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0" y="1097280"/>
            <a:ext cx="18288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Owner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46304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not replaced before Dec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146304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1463040"/>
            <a:ext cx="731520" cy="365760"/>
          </a:xfrm>
          <a:prstGeom prst="rect">
            <a:avLst/>
          </a:prstGeom>
          <a:solidFill>
            <a:srgbClr val="FF991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146304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Feb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146304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Prashant Nair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182880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Collate Capabilities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0" y="182880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0" y="1828800"/>
            <a:ext cx="731520" cy="365760"/>
          </a:xfrm>
          <a:prstGeom prst="rect">
            <a:avLst/>
          </a:prstGeom>
          <a:solidFill>
            <a:srgbClr val="FF991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82880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Mar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9440" y="182880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Prashant Nair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19456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Design Support Availability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219456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0" y="2194560"/>
            <a:ext cx="731520" cy="365760"/>
          </a:xfrm>
          <a:prstGeom prst="rect">
            <a:avLst/>
          </a:prstGeom>
          <a:solidFill>
            <a:srgbClr val="FF991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219456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28 Feb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219456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Prashant Nair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56032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QE Test Availability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31920" y="256032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0" y="2560320"/>
            <a:ext cx="731520" cy="365760"/>
          </a:xfrm>
          <a:prstGeom prst="rect">
            <a:avLst/>
          </a:prstGeom>
          <a:solidFill>
            <a:srgbClr val="FF991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256032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28 Feb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256032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 Terrance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27432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Key Challenges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31089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SAM resource ramp-up - QE and Design availability constraints (Feb-Jun)</a:t>
            </a:r>
          </a:p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SAM vendor decision pending (Apr) - Collate capability validation ongoing</a:t>
            </a:r>
          </a:p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Growth quarterly releases need scope clarity for Q2 and Q3</a:t>
            </a:r>
          </a:p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Direct Website FSMA cutover dependent on Part VII programme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