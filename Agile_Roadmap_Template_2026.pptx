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D1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" y="109728"/>
            <a:ext cx="320040" cy="320040"/>
          </a:xfrm>
          <a:prstGeom prst="ellipse">
            <a:avLst/>
          </a:prstGeom>
          <a:solidFill>
            <a:srgbClr val="E5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Mortgage Systems Value Stream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1371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9999"/>
                </a:solidFill>
              </a:defRPr>
            </a:pPr>
            <a:r>
              <a:t>NBS Confidential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914400"/>
            <a:ext cx="3017520" cy="822960"/>
          </a:xfrm>
          <a:prstGeom prst="roundRect">
            <a:avLst/>
          </a:prstGeom>
          <a:noFill/>
          <a:ln w="19050">
            <a:solidFill>
              <a:srgbClr val="1D1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 i="0">
                <a:solidFill>
                  <a:srgbClr val="1D1D4D"/>
                </a:solidFill>
              </a:defRPr>
            </a:pPr>
            <a:r>
              <a:t>Michael James</a:t>
            </a:r>
          </a:p>
          <a:p>
            <a:pPr algn="ctr">
              <a:defRPr sz="1100" b="0" i="1">
                <a:solidFill>
                  <a:srgbClr val="1D1D4D"/>
                </a:solidFill>
              </a:defRPr>
            </a:pPr>
            <a:r>
              <a:t>Delivery Lead</a:t>
            </a:r>
          </a:p>
          <a:p>
            <a:pPr algn="ctr">
              <a:defRPr sz="1000" b="0" i="1">
                <a:solidFill>
                  <a:srgbClr val="1D1D4D"/>
                </a:solidFill>
              </a:defRPr>
            </a:pPr>
            <a:r>
              <a:t>Value Stream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1737360"/>
            <a:ext cx="18288" cy="457200"/>
          </a:xfrm>
          <a:prstGeom prst="rect">
            <a:avLst/>
          </a:prstGeom>
          <a:solidFill>
            <a:srgbClr val="1D1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2194560"/>
            <a:ext cx="7589520" cy="18288"/>
          </a:xfrm>
          <a:prstGeom prst="rect">
            <a:avLst/>
          </a:prstGeom>
          <a:solidFill>
            <a:srgbClr val="1D1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0" y="2194560"/>
            <a:ext cx="18288" cy="274320"/>
          </a:xfrm>
          <a:prstGeom prst="rect">
            <a:avLst/>
          </a:prstGeom>
          <a:solidFill>
            <a:srgbClr val="1D1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0760" y="2194560"/>
            <a:ext cx="18288" cy="274320"/>
          </a:xfrm>
          <a:prstGeom prst="rect">
            <a:avLst/>
          </a:prstGeom>
          <a:solidFill>
            <a:srgbClr val="1D1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875520" y="2194560"/>
            <a:ext cx="18288" cy="274320"/>
          </a:xfrm>
          <a:prstGeom prst="rect">
            <a:avLst/>
          </a:prstGeom>
          <a:solidFill>
            <a:srgbClr val="1D1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2468880"/>
            <a:ext cx="3017520" cy="1097280"/>
          </a:xfrm>
          <a:prstGeom prst="roundRect">
            <a:avLst/>
          </a:prstGeom>
          <a:noFill/>
          <a:ln w="19050">
            <a:solidFill>
              <a:srgbClr val="1D1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 i="0">
                <a:solidFill>
                  <a:srgbClr val="1D1D4D"/>
                </a:solidFill>
              </a:defRPr>
            </a:pPr>
            <a:r>
              <a:t>Growth</a:t>
            </a:r>
          </a:p>
          <a:p>
            <a:pPr algn="ctr">
              <a:defRPr sz="1100" b="0" i="1">
                <a:solidFill>
                  <a:srgbClr val="1D1D4D"/>
                </a:solidFill>
              </a:defRPr>
            </a:pPr>
            <a:r>
              <a:t>Origination</a:t>
            </a:r>
          </a:p>
          <a:p>
            <a:pPr algn="ctr">
              <a:defRPr sz="900" b="0" i="0">
                <a:solidFill>
                  <a:srgbClr val="1D1D4D"/>
                </a:solidFill>
              </a:defRPr>
            </a:pPr>
            <a:r>
              <a:t>Waracle, 10to8, Case Seg*</a:t>
            </a:r>
          </a:p>
          <a:p>
            <a:pPr algn="ctr">
              <a:defRPr sz="800" b="0" i="1">
                <a:solidFill>
                  <a:srgbClr val="888888"/>
                </a:solidFill>
              </a:defRPr>
            </a:pPr>
            <a:r>
              <a:t>*re-prioritised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2468880"/>
            <a:ext cx="3017520" cy="1097280"/>
          </a:xfrm>
          <a:prstGeom prst="roundRect">
            <a:avLst/>
          </a:prstGeom>
          <a:noFill/>
          <a:ln w="19050">
            <a:solidFill>
              <a:srgbClr val="1D1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 i="0">
                <a:solidFill>
                  <a:srgbClr val="1D1D4D"/>
                </a:solidFill>
              </a:defRPr>
            </a:pPr>
            <a:r>
              <a:t>Brochureware</a:t>
            </a:r>
          </a:p>
          <a:p>
            <a:pPr algn="ctr">
              <a:defRPr sz="1100" b="0" i="1">
                <a:solidFill>
                  <a:srgbClr val="1D1D4D"/>
                </a:solidFill>
              </a:defRPr>
            </a:pPr>
            <a:r>
              <a:t>BAU &amp; Direct Website</a:t>
            </a:r>
          </a:p>
          <a:p>
            <a:pPr algn="ctr">
              <a:defRPr sz="900" b="0" i="0">
                <a:solidFill>
                  <a:srgbClr val="1D1D4D"/>
                </a:solidFill>
              </a:defRPr>
            </a:pPr>
            <a:r>
              <a:t>Re-platform, CBIS Rebrand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2468880"/>
            <a:ext cx="3017520" cy="1097280"/>
          </a:xfrm>
          <a:prstGeom prst="roundRect">
            <a:avLst/>
          </a:prstGeom>
          <a:noFill/>
          <a:ln w="19050">
            <a:solidFill>
              <a:srgbClr val="1D1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400" b="1" i="0">
                <a:solidFill>
                  <a:srgbClr val="1D1D4D"/>
                </a:solidFill>
              </a:defRPr>
            </a:pPr>
            <a:r>
              <a:t>SAM Replacement</a:t>
            </a:r>
          </a:p>
          <a:p>
            <a:pPr algn="ctr">
              <a:defRPr sz="1100" b="0" i="1">
                <a:solidFill>
                  <a:srgbClr val="1D1D4D"/>
                </a:solidFill>
              </a:defRPr>
            </a:pPr>
            <a:r>
              <a:t>Graeme Cumming</a:t>
            </a:r>
          </a:p>
          <a:p>
            <a:pPr algn="ctr">
              <a:defRPr sz="900" b="0" i="0">
                <a:solidFill>
                  <a:srgbClr val="1D1D4D"/>
                </a:solidFill>
              </a:defRPr>
            </a:pPr>
            <a:r>
              <a:t>Collate Migration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3200400" cy="2286000"/>
          </a:xfrm>
          <a:prstGeom prst="roundRect">
            <a:avLst/>
          </a:prstGeom>
          <a:solidFill>
            <a:srgbClr val="E6EEF5"/>
          </a:solidFill>
          <a:ln>
            <a:solidFill>
              <a:srgbClr val="1D1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D1D4D"/>
                </a:solidFill>
              </a:defRPr>
            </a:pPr>
            <a:r>
              <a:t>Growth</a:t>
            </a:r>
          </a:p>
          <a:p>
            <a:pPr algn="l">
              <a:defRPr sz="1100">
                <a:solidFill>
                  <a:srgbClr val="1D1D4D"/>
                </a:solidFill>
              </a:defRPr>
            </a:pPr>
            <a:r>
              <a:t>1x BA</a:t>
            </a:r>
            <a:br/>
            <a:r>
              <a:t>2x Delivery</a:t>
            </a:r>
            <a:br/>
            <a:r>
              <a:t>2x QE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3931920"/>
            <a:ext cx="3200400" cy="2286000"/>
          </a:xfrm>
          <a:prstGeom prst="roundRect">
            <a:avLst/>
          </a:prstGeom>
          <a:solidFill>
            <a:srgbClr val="E6EEF5"/>
          </a:solidFill>
          <a:ln>
            <a:solidFill>
              <a:srgbClr val="1D1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D1D4D"/>
                </a:solidFill>
              </a:defRPr>
            </a:pPr>
            <a:r>
              <a:t>Brochureware</a:t>
            </a:r>
          </a:p>
          <a:p>
            <a:pPr algn="l">
              <a:defRPr sz="1100">
                <a:solidFill>
                  <a:srgbClr val="1D1D4D"/>
                </a:solidFill>
              </a:defRPr>
            </a:pPr>
            <a:r>
              <a:t>1x BA</a:t>
            </a:r>
            <a:br/>
            <a:r>
              <a:t>2x .NET Dev</a:t>
            </a:r>
            <a:br/>
            <a:r>
              <a:t>2x QE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931920"/>
            <a:ext cx="3474720" cy="2286000"/>
          </a:xfrm>
          <a:prstGeom prst="roundRect">
            <a:avLst/>
          </a:prstGeom>
          <a:solidFill>
            <a:srgbClr val="E6EEF5"/>
          </a:solidFill>
          <a:ln>
            <a:solidFill>
              <a:srgbClr val="1D1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D1D4D"/>
                </a:solidFill>
              </a:defRPr>
            </a:pPr>
            <a:r>
              <a:t>SAM Replacement</a:t>
            </a:r>
          </a:p>
          <a:p>
            <a:pPr algn="l">
              <a:defRPr sz="1100">
                <a:solidFill>
                  <a:srgbClr val="1D1D4D"/>
                </a:solidFill>
              </a:defRPr>
            </a:pPr>
            <a:r>
              <a:t>3x BA</a:t>
            </a:r>
            <a:br/>
            <a:r>
              <a:t>2x Delivery</a:t>
            </a:r>
            <a:br/>
            <a:r>
              <a:t>1x Design</a:t>
            </a:r>
            <a:br/>
            <a:r>
              <a:t>3x Java Dev</a:t>
            </a:r>
            <a:br/>
            <a:r>
              <a:t>7x QE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0" y="731520"/>
            <a:ext cx="228600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1D1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D1D4D"/>
                </a:solidFill>
              </a:defRPr>
            </a:pPr>
            <a:r>
              <a:t>FY27: 26 FTE</a:t>
            </a:r>
          </a:p>
          <a:p>
            <a:br/>
            <a:pPr>
              <a:defRPr sz="1000">
                <a:solidFill>
                  <a:srgbClr val="1D1D4D"/>
                </a:solidFill>
              </a:defRPr>
            </a:pPr>
            <a:r>
              <a:t>Growth: 5</a:t>
            </a:r>
          </a:p>
          <a:p>
            <a:pPr>
              <a:defRPr sz="1000">
                <a:solidFill>
                  <a:srgbClr val="1D1D4D"/>
                </a:solidFill>
              </a:defRPr>
            </a:pPr>
            <a:r>
              <a:t>Brochureware: 5</a:t>
            </a:r>
          </a:p>
          <a:p>
            <a:pPr>
              <a:defRPr sz="1000">
                <a:solidFill>
                  <a:srgbClr val="1D1D4D"/>
                </a:solidFill>
              </a:defRPr>
            </a:pPr>
            <a:r>
              <a:t>SAM: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D1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" y="109728"/>
            <a:ext cx="320040" cy="320040"/>
          </a:xfrm>
          <a:prstGeom prst="ellipse">
            <a:avLst/>
          </a:prstGeom>
          <a:solidFill>
            <a:srgbClr val="E5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Value Stream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1371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9999"/>
                </a:solidFill>
              </a:defRPr>
            </a:pPr>
            <a:r>
              <a:t>NBS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822960"/>
            <a:ext cx="1645920" cy="320040"/>
          </a:xfrm>
          <a:prstGeom prst="rect">
            <a:avLst/>
          </a:prstGeom>
          <a:solidFill>
            <a:srgbClr val="1D1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Q4 2025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822960"/>
            <a:ext cx="1645920" cy="320040"/>
          </a:xfrm>
          <a:prstGeom prst="rect">
            <a:avLst/>
          </a:prstGeom>
          <a:solidFill>
            <a:srgbClr val="1D1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Q1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822960"/>
            <a:ext cx="1645920" cy="320040"/>
          </a:xfrm>
          <a:prstGeom prst="rect">
            <a:avLst/>
          </a:prstGeom>
          <a:solidFill>
            <a:srgbClr val="1D1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Q2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0" y="822960"/>
            <a:ext cx="1645920" cy="320040"/>
          </a:xfrm>
          <a:prstGeom prst="rect">
            <a:avLst/>
          </a:prstGeom>
          <a:solidFill>
            <a:srgbClr val="1D1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Q3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0" y="822960"/>
            <a:ext cx="1645920" cy="320040"/>
          </a:xfrm>
          <a:prstGeom prst="rect">
            <a:avLst/>
          </a:prstGeom>
          <a:solidFill>
            <a:srgbClr val="1D1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Q4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41280" y="822960"/>
            <a:ext cx="1645920" cy="320040"/>
          </a:xfrm>
          <a:prstGeom prst="rect">
            <a:avLst/>
          </a:prstGeom>
          <a:solidFill>
            <a:srgbClr val="1D1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2027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280160"/>
            <a:ext cx="12188952" cy="1005840"/>
          </a:xfrm>
          <a:prstGeom prst="rect">
            <a:avLst/>
          </a:prstGeom>
          <a:solidFill>
            <a:srgbClr val="E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1463039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1D4D"/>
                </a:solidFill>
              </a:defRPr>
            </a:pPr>
            <a:r>
              <a:t>Waracle</a:t>
            </a:r>
            <a:br/>
            <a:r>
              <a:t>Calculator</a:t>
            </a:r>
          </a:p>
        </p:txBody>
      </p:sp>
      <p:sp>
        <p:nvSpPr>
          <p:cNvPr id="15" name="Diamond 14"/>
          <p:cNvSpPr/>
          <p:nvPr/>
        </p:nvSpPr>
        <p:spPr>
          <a:xfrm>
            <a:off x="4078224" y="1600200"/>
            <a:ext cx="146304" cy="146304"/>
          </a:xfrm>
          <a:prstGeom prst="diamond">
            <a:avLst/>
          </a:prstGeom>
          <a:solidFill>
            <a:srgbClr val="1D1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94176" y="17373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1D1D4D"/>
                </a:solidFill>
              </a:defRPr>
            </a:pPr>
            <a:r>
              <a:t>Go Live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228600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" y="24688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1D4D"/>
                </a:solidFill>
              </a:defRPr>
            </a:pPr>
            <a:r>
              <a:t>Direct</a:t>
            </a:r>
            <a:br/>
            <a:r>
              <a:t>Website</a:t>
            </a:r>
          </a:p>
        </p:txBody>
      </p:sp>
      <p:sp>
        <p:nvSpPr>
          <p:cNvPr id="19" name="Diamond 18"/>
          <p:cNvSpPr/>
          <p:nvPr/>
        </p:nvSpPr>
        <p:spPr>
          <a:xfrm>
            <a:off x="3913632" y="2606040"/>
            <a:ext cx="146304" cy="146304"/>
          </a:xfrm>
          <a:prstGeom prst="diamond">
            <a:avLst/>
          </a:prstGeom>
          <a:solidFill>
            <a:srgbClr val="1D1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9584" y="27432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1D1D4D"/>
                </a:solidFill>
              </a:defRPr>
            </a:pPr>
            <a:r>
              <a:t>CBIS Rebrand</a:t>
            </a:r>
          </a:p>
        </p:txBody>
      </p:sp>
      <p:sp>
        <p:nvSpPr>
          <p:cNvPr id="21" name="Diamond 20"/>
          <p:cNvSpPr/>
          <p:nvPr/>
        </p:nvSpPr>
        <p:spPr>
          <a:xfrm>
            <a:off x="4407408" y="2606040"/>
            <a:ext cx="146304" cy="146304"/>
          </a:xfrm>
          <a:prstGeom prst="diamond">
            <a:avLst/>
          </a:prstGeom>
          <a:solidFill>
            <a:srgbClr val="1D1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0" y="27432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1D1D4D"/>
                </a:solidFill>
              </a:defRPr>
            </a:pPr>
            <a:r>
              <a:t>Re-platform</a:t>
            </a:r>
          </a:p>
        </p:txBody>
      </p:sp>
      <p:sp>
        <p:nvSpPr>
          <p:cNvPr id="23" name="Diamond 22"/>
          <p:cNvSpPr/>
          <p:nvPr/>
        </p:nvSpPr>
        <p:spPr>
          <a:xfrm>
            <a:off x="5230368" y="2606040"/>
            <a:ext cx="146304" cy="146304"/>
          </a:xfrm>
          <a:prstGeom prst="diamond">
            <a:avLst/>
          </a:prstGeom>
          <a:solidFill>
            <a:srgbClr val="1D1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27432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1D1D4D"/>
                </a:solidFill>
              </a:defRPr>
            </a:pPr>
            <a:r>
              <a:t>FSMA Cutover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3291840"/>
            <a:ext cx="12188952" cy="1005840"/>
          </a:xfrm>
          <a:prstGeom prst="rect">
            <a:avLst/>
          </a:prstGeom>
          <a:solidFill>
            <a:srgbClr val="E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" y="34747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1D4D"/>
                </a:solidFill>
              </a:defRPr>
            </a:pPr>
            <a:r>
              <a:t>Growth</a:t>
            </a:r>
            <a:br/>
            <a:r>
              <a:t>Ops</a:t>
            </a:r>
          </a:p>
        </p:txBody>
      </p:sp>
      <p:sp>
        <p:nvSpPr>
          <p:cNvPr id="27" name="Diamond 26"/>
          <p:cNvSpPr/>
          <p:nvPr/>
        </p:nvSpPr>
        <p:spPr>
          <a:xfrm>
            <a:off x="4242816" y="3611880"/>
            <a:ext cx="146304" cy="146304"/>
          </a:xfrm>
          <a:prstGeom prst="diamond">
            <a:avLst/>
          </a:prstGeom>
          <a:solidFill>
            <a:srgbClr val="1D1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58768" y="3749039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1D1D4D"/>
                </a:solidFill>
              </a:defRPr>
            </a:pPr>
            <a:r>
              <a:t>10to8 &amp; Live Chat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4297680"/>
            <a:ext cx="1218895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2880" y="44805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1D4D"/>
                </a:solidFill>
              </a:defRPr>
            </a:pPr>
            <a:r>
              <a:t>Growth</a:t>
            </a:r>
            <a:br/>
            <a:r>
              <a:t>Comms</a:t>
            </a:r>
          </a:p>
        </p:txBody>
      </p:sp>
      <p:sp>
        <p:nvSpPr>
          <p:cNvPr id="31" name="Diamond 30"/>
          <p:cNvSpPr/>
          <p:nvPr/>
        </p:nvSpPr>
        <p:spPr>
          <a:xfrm>
            <a:off x="4572000" y="4617720"/>
            <a:ext cx="146304" cy="146304"/>
          </a:xfrm>
          <a:prstGeom prst="diamond">
            <a:avLst/>
          </a:prstGeom>
          <a:solidFill>
            <a:srgbClr val="FF9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87952" y="47548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1D1D4D"/>
                </a:solidFill>
              </a:defRPr>
            </a:pPr>
            <a:r>
              <a:t>Broker Comms Strategy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5303520"/>
            <a:ext cx="12188952" cy="1005840"/>
          </a:xfrm>
          <a:prstGeom prst="rect">
            <a:avLst/>
          </a:prstGeom>
          <a:solidFill>
            <a:srgbClr val="E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2880" y="54864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1D4D"/>
                </a:solidFill>
              </a:defRPr>
            </a:pPr>
            <a:r>
              <a:t>SAM</a:t>
            </a:r>
            <a:br/>
            <a:r>
              <a:t>Replacement</a:t>
            </a:r>
          </a:p>
        </p:txBody>
      </p:sp>
      <p:sp>
        <p:nvSpPr>
          <p:cNvPr id="35" name="Diamond 34"/>
          <p:cNvSpPr/>
          <p:nvPr/>
        </p:nvSpPr>
        <p:spPr>
          <a:xfrm>
            <a:off x="4407408" y="5623560"/>
            <a:ext cx="146304" cy="146304"/>
          </a:xfrm>
          <a:prstGeom prst="diamond">
            <a:avLst/>
          </a:prstGeom>
          <a:solidFill>
            <a:srgbClr val="1D1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23360" y="57607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1D1D4D"/>
                </a:solidFill>
              </a:defRPr>
            </a:pPr>
            <a:r>
              <a:t>Discovery</a:t>
            </a:r>
          </a:p>
        </p:txBody>
      </p:sp>
      <p:sp>
        <p:nvSpPr>
          <p:cNvPr id="37" name="Diamond 36"/>
          <p:cNvSpPr/>
          <p:nvPr/>
        </p:nvSpPr>
        <p:spPr>
          <a:xfrm>
            <a:off x="5230368" y="5623560"/>
            <a:ext cx="146304" cy="146304"/>
          </a:xfrm>
          <a:prstGeom prst="diamond">
            <a:avLst/>
          </a:prstGeom>
          <a:solidFill>
            <a:srgbClr val="1D1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46320" y="57607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1D1D4D"/>
                </a:solidFill>
              </a:defRPr>
            </a:pPr>
            <a:r>
              <a:t>Decision</a:t>
            </a:r>
          </a:p>
        </p:txBody>
      </p:sp>
      <p:sp>
        <p:nvSpPr>
          <p:cNvPr id="39" name="Diamond 38"/>
          <p:cNvSpPr/>
          <p:nvPr/>
        </p:nvSpPr>
        <p:spPr>
          <a:xfrm>
            <a:off x="6876288" y="5623560"/>
            <a:ext cx="146304" cy="146304"/>
          </a:xfrm>
          <a:prstGeom prst="diamond">
            <a:avLst/>
          </a:prstGeom>
          <a:solidFill>
            <a:srgbClr val="FF9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57607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1D1D4D"/>
                </a:solidFill>
              </a:defRPr>
            </a:pPr>
            <a:r>
              <a:t>Implementation</a:t>
            </a:r>
          </a:p>
        </p:txBody>
      </p:sp>
      <p:sp>
        <p:nvSpPr>
          <p:cNvPr id="41" name="Diamond 40"/>
          <p:cNvSpPr/>
          <p:nvPr/>
        </p:nvSpPr>
        <p:spPr>
          <a:xfrm>
            <a:off x="9838944" y="5623560"/>
            <a:ext cx="146304" cy="146304"/>
          </a:xfrm>
          <a:prstGeom prst="diamond">
            <a:avLst/>
          </a:prstGeom>
          <a:solidFill>
            <a:srgbClr val="1D1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54896" y="57607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1D1D4D"/>
                </a:solidFill>
              </a:defRPr>
            </a:pPr>
            <a:r>
              <a:t>Go Live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49039" y="822960"/>
            <a:ext cx="18288" cy="5029200"/>
          </a:xfrm>
          <a:prstGeom prst="rect">
            <a:avLst/>
          </a:prstGeom>
          <a:solidFill>
            <a:srgbClr val="E5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66159" y="58521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E50050"/>
                </a:solidFill>
              </a:defRPr>
            </a:pPr>
            <a:r>
              <a:t>Today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6217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</a:defRPr>
            </a:pPr>
            <a:r>
              <a:t>◆ Confirmed milestone    ◆ TBC/In planning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D1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" y="109728"/>
            <a:ext cx="320040" cy="320040"/>
          </a:xfrm>
          <a:prstGeom prst="ellipse">
            <a:avLst/>
          </a:prstGeom>
          <a:solidFill>
            <a:srgbClr val="E5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L0 &amp; L1 Milestones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1371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9999"/>
                </a:solidFill>
              </a:defRPr>
            </a:pPr>
            <a:r>
              <a:t>NBS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731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D1D4D"/>
                </a:solidFill>
              </a:defRPr>
            </a:pPr>
            <a:r>
              <a:t>L0 Objectives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3200400" cy="320040"/>
          </a:xfrm>
          <a:prstGeom prst="rect">
            <a:avLst/>
          </a:prstGeom>
          <a:solidFill>
            <a:srgbClr val="1D1D4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Objective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097280"/>
            <a:ext cx="1188720" cy="320040"/>
          </a:xfrm>
          <a:prstGeom prst="rect">
            <a:avLst/>
          </a:prstGeom>
          <a:solidFill>
            <a:srgbClr val="1D1D4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L0 Target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097280"/>
            <a:ext cx="731520" cy="320040"/>
          </a:xfrm>
          <a:prstGeom prst="rect">
            <a:avLst/>
          </a:prstGeom>
          <a:solidFill>
            <a:srgbClr val="1D1D4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RAG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4959" y="1097280"/>
            <a:ext cx="1645920" cy="320040"/>
          </a:xfrm>
          <a:prstGeom prst="rect">
            <a:avLst/>
          </a:prstGeom>
          <a:solidFill>
            <a:srgbClr val="1D1D4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Owner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17319"/>
            <a:ext cx="3200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1D1D4D"/>
                </a:solidFill>
              </a:defRPr>
            </a:pPr>
            <a:r>
              <a:t>Waracle Calculator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1417319"/>
            <a:ext cx="11887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D1D4D"/>
                </a:solidFill>
              </a:defRPr>
            </a:pPr>
            <a:r>
              <a:t>11 Feb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1417319"/>
            <a:ext cx="731520" cy="320040"/>
          </a:xfrm>
          <a:prstGeom prst="rect">
            <a:avLst/>
          </a:prstGeom>
          <a:solidFill>
            <a:srgbClr val="36B37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Green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59" y="1417319"/>
            <a:ext cx="16459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D1D4D"/>
                </a:solidFill>
              </a:defRPr>
            </a:pPr>
            <a:r>
              <a:t>Michael James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737360"/>
            <a:ext cx="3200400" cy="320040"/>
          </a:xfrm>
          <a:prstGeom prst="rect">
            <a:avLst/>
          </a:prstGeom>
          <a:solidFill>
            <a:srgbClr val="E6EE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1D1D4D"/>
                </a:solidFill>
              </a:defRPr>
            </a:pPr>
            <a:r>
              <a:t>Direct Website Re-platform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1737360"/>
            <a:ext cx="1188720" cy="320040"/>
          </a:xfrm>
          <a:prstGeom prst="rect">
            <a:avLst/>
          </a:prstGeom>
          <a:solidFill>
            <a:srgbClr val="E6EE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D1D4D"/>
                </a:solidFill>
              </a:defRPr>
            </a:pPr>
            <a:r>
              <a:t>02 Apr 2026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1737360"/>
            <a:ext cx="731520" cy="320040"/>
          </a:xfrm>
          <a:prstGeom prst="rect">
            <a:avLst/>
          </a:prstGeom>
          <a:solidFill>
            <a:srgbClr val="36B37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Green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94959" y="1737360"/>
            <a:ext cx="1645920" cy="320040"/>
          </a:xfrm>
          <a:prstGeom prst="rect">
            <a:avLst/>
          </a:prstGeom>
          <a:solidFill>
            <a:srgbClr val="E6EE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D1D4D"/>
                </a:solidFill>
              </a:defRPr>
            </a:pPr>
            <a:r>
              <a:t>Michael James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057400"/>
            <a:ext cx="3200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1D1D4D"/>
                </a:solidFill>
              </a:defRPr>
            </a:pPr>
            <a:r>
              <a:t>Growth - Operational Efficiencies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0" y="2057400"/>
            <a:ext cx="11887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D1D4D"/>
                </a:solidFill>
              </a:defRPr>
            </a:pPr>
            <a:r>
              <a:t>31 Mar 2027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2057400"/>
            <a:ext cx="731520" cy="320040"/>
          </a:xfrm>
          <a:prstGeom prst="rect">
            <a:avLst/>
          </a:prstGeom>
          <a:solidFill>
            <a:srgbClr val="36B37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Green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94959" y="2057400"/>
            <a:ext cx="16459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D1D4D"/>
                </a:solidFill>
              </a:defRPr>
            </a:pPr>
            <a:r>
              <a:t>Michael James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377439"/>
            <a:ext cx="3200400" cy="320040"/>
          </a:xfrm>
          <a:prstGeom prst="rect">
            <a:avLst/>
          </a:prstGeom>
          <a:solidFill>
            <a:srgbClr val="E6EE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1D1D4D"/>
                </a:solidFill>
              </a:defRPr>
            </a:pPr>
            <a:r>
              <a:t>Growth - Communications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0" y="2377439"/>
            <a:ext cx="1188720" cy="320040"/>
          </a:xfrm>
          <a:prstGeom prst="rect">
            <a:avLst/>
          </a:prstGeom>
          <a:solidFill>
            <a:srgbClr val="E6EE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D1D4D"/>
                </a:solidFill>
              </a:defRPr>
            </a:pPr>
            <a:r>
              <a:t>31 Mar 2027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2377439"/>
            <a:ext cx="731520" cy="320040"/>
          </a:xfrm>
          <a:prstGeom prst="rect">
            <a:avLst/>
          </a:prstGeom>
          <a:solidFill>
            <a:srgbClr val="36B37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Green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94959" y="2377439"/>
            <a:ext cx="1645920" cy="320040"/>
          </a:xfrm>
          <a:prstGeom prst="rect">
            <a:avLst/>
          </a:prstGeom>
          <a:solidFill>
            <a:srgbClr val="E6EE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D1D4D"/>
                </a:solidFill>
              </a:defRPr>
            </a:pPr>
            <a:r>
              <a:t>Michael James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2697480"/>
            <a:ext cx="3200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1D1D4D"/>
                </a:solidFill>
              </a:defRPr>
            </a:pPr>
            <a:r>
              <a:t>Growth - Case Segmentation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74720" y="2697480"/>
            <a:ext cx="11887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D1D4D"/>
                </a:solidFill>
              </a:defRPr>
            </a:pPr>
            <a:r>
              <a:t>31 Mar 2027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3440" y="2697480"/>
            <a:ext cx="731520" cy="320040"/>
          </a:xfrm>
          <a:prstGeom prst="rect">
            <a:avLst/>
          </a:prstGeom>
          <a:solidFill>
            <a:srgbClr val="36B37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Green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94959" y="2697480"/>
            <a:ext cx="16459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D1D4D"/>
                </a:solidFill>
              </a:defRPr>
            </a:pPr>
            <a:r>
              <a:t>Michael James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017520"/>
            <a:ext cx="3200400" cy="320040"/>
          </a:xfrm>
          <a:prstGeom prst="rect">
            <a:avLst/>
          </a:prstGeom>
          <a:solidFill>
            <a:srgbClr val="E6EE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1D1D4D"/>
                </a:solidFill>
              </a:defRPr>
            </a:pPr>
            <a:r>
              <a:t>SAM Replacement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0" y="3017520"/>
            <a:ext cx="1188720" cy="320040"/>
          </a:xfrm>
          <a:prstGeom prst="rect">
            <a:avLst/>
          </a:prstGeom>
          <a:solidFill>
            <a:srgbClr val="E6EE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D1D4D"/>
                </a:solidFill>
              </a:defRPr>
            </a:pPr>
            <a:r>
              <a:t>31 Dec 2026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63440" y="3017520"/>
            <a:ext cx="731520" cy="320040"/>
          </a:xfrm>
          <a:prstGeom prst="rect">
            <a:avLst/>
          </a:prstGeom>
          <a:solidFill>
            <a:srgbClr val="36B37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Green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94959" y="3017520"/>
            <a:ext cx="1645920" cy="320040"/>
          </a:xfrm>
          <a:prstGeom prst="rect">
            <a:avLst/>
          </a:prstGeom>
          <a:solidFill>
            <a:srgbClr val="E6EE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D1D4D"/>
                </a:solidFill>
              </a:defRPr>
            </a:pPr>
            <a:r>
              <a:t>Graeme Cumming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36576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D1D4D"/>
                </a:solidFill>
              </a:defRPr>
            </a:pPr>
            <a:r>
              <a:t>Key L1 Milestones (Next 90 Days)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4023360"/>
            <a:ext cx="2926080" cy="320040"/>
          </a:xfrm>
          <a:prstGeom prst="rect">
            <a:avLst/>
          </a:prstGeom>
          <a:solidFill>
            <a:srgbClr val="1D1D4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Milestone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0" y="4023360"/>
            <a:ext cx="1645920" cy="320040"/>
          </a:xfrm>
          <a:prstGeom prst="rect">
            <a:avLst/>
          </a:prstGeom>
          <a:solidFill>
            <a:srgbClr val="1D1D4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Parent L0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46320" y="4023360"/>
            <a:ext cx="914400" cy="320040"/>
          </a:xfrm>
          <a:prstGeom prst="rect">
            <a:avLst/>
          </a:prstGeom>
          <a:solidFill>
            <a:srgbClr val="1D1D4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Due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60720" y="4023360"/>
            <a:ext cx="731520" cy="320040"/>
          </a:xfrm>
          <a:prstGeom prst="rect">
            <a:avLst/>
          </a:prstGeom>
          <a:solidFill>
            <a:srgbClr val="1D1D4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RAG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343400"/>
            <a:ext cx="29260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1D1D4D"/>
                </a:solidFill>
              </a:defRPr>
            </a:pPr>
            <a:r>
              <a:t>CB AFCALC Governance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0" y="4343400"/>
            <a:ext cx="16459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1D1D4D"/>
                </a:solidFill>
              </a:defRPr>
            </a:pPr>
            <a:r>
              <a:t>Waracle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46320" y="4343400"/>
            <a:ext cx="914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D1D4D"/>
                </a:solidFill>
              </a:defRPr>
            </a:pPr>
            <a:r>
              <a:t>10 Feb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760720" y="4343400"/>
            <a:ext cx="731520" cy="320040"/>
          </a:xfrm>
          <a:prstGeom prst="rect">
            <a:avLst/>
          </a:prstGeom>
          <a:solidFill>
            <a:srgbClr val="36B37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Green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663440"/>
            <a:ext cx="2926080" cy="320040"/>
          </a:xfrm>
          <a:prstGeom prst="rect">
            <a:avLst/>
          </a:prstGeom>
          <a:solidFill>
            <a:srgbClr val="E6EE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1D1D4D"/>
                </a:solidFill>
              </a:defRPr>
            </a:pPr>
            <a:r>
              <a:t>CBIS Rebranding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0" y="4663440"/>
            <a:ext cx="1645920" cy="320040"/>
          </a:xfrm>
          <a:prstGeom prst="rect">
            <a:avLst/>
          </a:prstGeom>
          <a:solidFill>
            <a:srgbClr val="E6EE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1D1D4D"/>
                </a:solidFill>
              </a:defRPr>
            </a:pPr>
            <a:r>
              <a:t>Direct Website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846320" y="4663440"/>
            <a:ext cx="914400" cy="320040"/>
          </a:xfrm>
          <a:prstGeom prst="rect">
            <a:avLst/>
          </a:prstGeom>
          <a:solidFill>
            <a:srgbClr val="E6EE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D1D4D"/>
                </a:solidFill>
              </a:defRPr>
            </a:pPr>
            <a:r>
              <a:t>10 Feb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760720" y="4663440"/>
            <a:ext cx="731520" cy="320040"/>
          </a:xfrm>
          <a:prstGeom prst="rect">
            <a:avLst/>
          </a:prstGeom>
          <a:solidFill>
            <a:srgbClr val="36B37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Green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4983480"/>
            <a:ext cx="29260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1D1D4D"/>
                </a:solidFill>
              </a:defRPr>
            </a:pPr>
            <a:r>
              <a:t>10to8 Appointment Booking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0" y="4983480"/>
            <a:ext cx="16459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1D1D4D"/>
                </a:solidFill>
              </a:defRPr>
            </a:pPr>
            <a:r>
              <a:t>Growth Ops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846320" y="4983480"/>
            <a:ext cx="914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D1D4D"/>
                </a:solidFill>
              </a:defRPr>
            </a:pPr>
            <a:r>
              <a:t>18 Feb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760720" y="4983480"/>
            <a:ext cx="731520" cy="320040"/>
          </a:xfrm>
          <a:prstGeom prst="rect">
            <a:avLst/>
          </a:prstGeom>
          <a:solidFill>
            <a:srgbClr val="36B37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Green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5303520"/>
            <a:ext cx="2926080" cy="320040"/>
          </a:xfrm>
          <a:prstGeom prst="rect">
            <a:avLst/>
          </a:prstGeom>
          <a:solidFill>
            <a:srgbClr val="E6EE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1D1D4D"/>
                </a:solidFill>
              </a:defRPr>
            </a:pPr>
            <a:r>
              <a:t>Re-platform Clydesdale Direct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0" y="5303520"/>
            <a:ext cx="1645920" cy="320040"/>
          </a:xfrm>
          <a:prstGeom prst="rect">
            <a:avLst/>
          </a:prstGeom>
          <a:solidFill>
            <a:srgbClr val="E6EE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1D1D4D"/>
                </a:solidFill>
              </a:defRPr>
            </a:pPr>
            <a:r>
              <a:t>Direct Website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46320" y="5303520"/>
            <a:ext cx="914400" cy="320040"/>
          </a:xfrm>
          <a:prstGeom prst="rect">
            <a:avLst/>
          </a:prstGeom>
          <a:solidFill>
            <a:srgbClr val="E6EE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D1D4D"/>
                </a:solidFill>
              </a:defRPr>
            </a:pPr>
            <a:r>
              <a:t>20 Feb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760720" y="5303520"/>
            <a:ext cx="731520" cy="320040"/>
          </a:xfrm>
          <a:prstGeom prst="rect">
            <a:avLst/>
          </a:prstGeom>
          <a:solidFill>
            <a:srgbClr val="36B37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Green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5623560"/>
            <a:ext cx="29260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1D1D4D"/>
                </a:solidFill>
              </a:defRPr>
            </a:pPr>
            <a:r>
              <a:t>CB AFCALC Review &amp; Rebuild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0" y="5623560"/>
            <a:ext cx="16459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1D1D4D"/>
                </a:solidFill>
              </a:defRPr>
            </a:pPr>
            <a:r>
              <a:t>Waracle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846320" y="5623560"/>
            <a:ext cx="914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D1D4D"/>
                </a:solidFill>
              </a:defRPr>
            </a:pPr>
            <a:r>
              <a:t>27 Feb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760720" y="5623560"/>
            <a:ext cx="731520" cy="320040"/>
          </a:xfrm>
          <a:prstGeom prst="rect">
            <a:avLst/>
          </a:prstGeom>
          <a:solidFill>
            <a:srgbClr val="36B37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Green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5943600"/>
            <a:ext cx="2926080" cy="320040"/>
          </a:xfrm>
          <a:prstGeom prst="rect">
            <a:avLst/>
          </a:prstGeom>
          <a:solidFill>
            <a:srgbClr val="E6EE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1D1D4D"/>
                </a:solidFill>
              </a:defRPr>
            </a:pPr>
            <a:r>
              <a:t>SAM Discovery Complete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00400" y="5943600"/>
            <a:ext cx="1645920" cy="320040"/>
          </a:xfrm>
          <a:prstGeom prst="rect">
            <a:avLst/>
          </a:prstGeom>
          <a:solidFill>
            <a:srgbClr val="E6EE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1D1D4D"/>
                </a:solidFill>
              </a:defRPr>
            </a:pPr>
            <a:r>
              <a:t>SAM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846320" y="5943600"/>
            <a:ext cx="914400" cy="320040"/>
          </a:xfrm>
          <a:prstGeom prst="rect">
            <a:avLst/>
          </a:prstGeom>
          <a:solidFill>
            <a:srgbClr val="E6EE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D1D4D"/>
                </a:solidFill>
              </a:defRPr>
            </a:pPr>
            <a:r>
              <a:t>27 Feb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760720" y="5943600"/>
            <a:ext cx="731520" cy="320040"/>
          </a:xfrm>
          <a:prstGeom prst="rect">
            <a:avLst/>
          </a:prstGeom>
          <a:solidFill>
            <a:srgbClr val="36B37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Green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6263640"/>
            <a:ext cx="29260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1D1D4D"/>
                </a:solidFill>
              </a:defRPr>
            </a:pPr>
            <a:r>
              <a:t>FSMA Part VII Cutover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0" y="6263640"/>
            <a:ext cx="16459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1D1D4D"/>
                </a:solidFill>
              </a:defRPr>
            </a:pPr>
            <a:r>
              <a:t>Direct Website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846320" y="6263640"/>
            <a:ext cx="914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D1D4D"/>
                </a:solidFill>
              </a:defRPr>
            </a:pPr>
            <a:r>
              <a:t>02 Apr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760720" y="6263640"/>
            <a:ext cx="731520" cy="320040"/>
          </a:xfrm>
          <a:prstGeom prst="rect">
            <a:avLst/>
          </a:prstGeom>
          <a:solidFill>
            <a:srgbClr val="36B37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Green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" y="6583680"/>
            <a:ext cx="2926080" cy="320040"/>
          </a:xfrm>
          <a:prstGeom prst="rect">
            <a:avLst/>
          </a:prstGeom>
          <a:solidFill>
            <a:srgbClr val="E6EE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1D1D4D"/>
                </a:solidFill>
              </a:defRPr>
            </a:pPr>
            <a:r>
              <a:t>SAM Decision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00400" y="6583680"/>
            <a:ext cx="1645920" cy="320040"/>
          </a:xfrm>
          <a:prstGeom prst="rect">
            <a:avLst/>
          </a:prstGeom>
          <a:solidFill>
            <a:srgbClr val="E6EE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1D1D4D"/>
                </a:solidFill>
              </a:defRPr>
            </a:pPr>
            <a:r>
              <a:t>SAM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846320" y="6583680"/>
            <a:ext cx="914400" cy="320040"/>
          </a:xfrm>
          <a:prstGeom prst="rect">
            <a:avLst/>
          </a:prstGeom>
          <a:solidFill>
            <a:srgbClr val="E6EE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D1D4D"/>
                </a:solidFill>
              </a:defRPr>
            </a:pPr>
            <a:r>
              <a:t>03 Apr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760720" y="6583680"/>
            <a:ext cx="731520" cy="320040"/>
          </a:xfrm>
          <a:prstGeom prst="rect">
            <a:avLst/>
          </a:prstGeom>
          <a:solidFill>
            <a:srgbClr val="36B37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Green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D1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" y="109728"/>
            <a:ext cx="320040" cy="320040"/>
          </a:xfrm>
          <a:prstGeom prst="ellipse">
            <a:avLst/>
          </a:prstGeom>
          <a:solidFill>
            <a:srgbClr val="E5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Risks &amp; Key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1371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9999"/>
                </a:solidFill>
              </a:defRPr>
            </a:pPr>
            <a:r>
              <a:t>NBS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731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D1D4D"/>
                </a:solidFill>
              </a:defRPr>
            </a:pPr>
            <a:r>
              <a:t>Open Risks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3657600" cy="365760"/>
          </a:xfrm>
          <a:prstGeom prst="rect">
            <a:avLst/>
          </a:prstGeom>
          <a:solidFill>
            <a:srgbClr val="1D1D4D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Risk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1097280"/>
            <a:ext cx="1371600" cy="365760"/>
          </a:xfrm>
          <a:prstGeom prst="rect">
            <a:avLst/>
          </a:prstGeom>
          <a:solidFill>
            <a:srgbClr val="1D1D4D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Workstream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1097280"/>
            <a:ext cx="731520" cy="365760"/>
          </a:xfrm>
          <a:prstGeom prst="rect">
            <a:avLst/>
          </a:prstGeom>
          <a:solidFill>
            <a:srgbClr val="1D1D4D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RAG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097280"/>
            <a:ext cx="914400" cy="365760"/>
          </a:xfrm>
          <a:prstGeom prst="rect">
            <a:avLst/>
          </a:prstGeom>
          <a:solidFill>
            <a:srgbClr val="1D1D4D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Target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0" y="1097280"/>
            <a:ext cx="1828800" cy="365760"/>
          </a:xfrm>
          <a:prstGeom prst="rect">
            <a:avLst/>
          </a:prstGeom>
          <a:solidFill>
            <a:srgbClr val="1D1D4D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Owner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463040"/>
            <a:ext cx="36576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 b="0">
                <a:solidFill>
                  <a:srgbClr val="1D1D4D"/>
                </a:solidFill>
              </a:defRPr>
            </a:pPr>
            <a:r>
              <a:t>Waracle 3rd party dependency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0" y="1463040"/>
            <a:ext cx="13716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D1D4D"/>
                </a:solidFill>
              </a:defRPr>
            </a:pPr>
            <a:r>
              <a:t>Waracle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0" y="1463040"/>
            <a:ext cx="731520" cy="365760"/>
          </a:xfrm>
          <a:prstGeom prst="rect">
            <a:avLst/>
          </a:prstGeom>
          <a:solidFill>
            <a:srgbClr val="36B37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Green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463040"/>
            <a:ext cx="9144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D1D4D"/>
                </a:solidFill>
              </a:defRPr>
            </a:pPr>
            <a:r>
              <a:t>28 Feb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1463040"/>
            <a:ext cx="18288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D1D4D"/>
                </a:solidFill>
              </a:defRPr>
            </a:pPr>
            <a:r>
              <a:t>Michael James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828800"/>
            <a:ext cx="36576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 b="0">
                <a:solidFill>
                  <a:srgbClr val="1D1D4D"/>
                </a:solidFill>
              </a:defRPr>
            </a:pPr>
            <a:r>
              <a:t>SAM Collate Capabilities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920" y="1828800"/>
            <a:ext cx="13716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D1D4D"/>
                </a:solidFill>
              </a:defRPr>
            </a:pPr>
            <a:r>
              <a:t>SAM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0" y="1828800"/>
            <a:ext cx="731520" cy="365760"/>
          </a:xfrm>
          <a:prstGeom prst="rect">
            <a:avLst/>
          </a:prstGeom>
          <a:solidFill>
            <a:srgbClr val="FF991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Amber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828800"/>
            <a:ext cx="9144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D1D4D"/>
                </a:solidFill>
              </a:defRPr>
            </a:pPr>
            <a:r>
              <a:t>27 Mar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0" y="1828800"/>
            <a:ext cx="18288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D1D4D"/>
                </a:solidFill>
              </a:defRPr>
            </a:pPr>
            <a:r>
              <a:t>Graeme Cumming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194560"/>
            <a:ext cx="36576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 b="0">
                <a:solidFill>
                  <a:srgbClr val="1D1D4D"/>
                </a:solidFill>
              </a:defRPr>
            </a:pPr>
            <a:r>
              <a:t>SAM not replaced in time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1920" y="2194560"/>
            <a:ext cx="13716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D1D4D"/>
                </a:solidFill>
              </a:defRPr>
            </a:pPr>
            <a:r>
              <a:t>SAM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03520" y="2194560"/>
            <a:ext cx="731520" cy="365760"/>
          </a:xfrm>
          <a:prstGeom prst="rect">
            <a:avLst/>
          </a:prstGeom>
          <a:solidFill>
            <a:srgbClr val="FF991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Amber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2194560"/>
            <a:ext cx="9144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D1D4D"/>
                </a:solidFill>
              </a:defRPr>
            </a:pPr>
            <a:r>
              <a:t>27 Feb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49440" y="2194560"/>
            <a:ext cx="18288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D1D4D"/>
                </a:solidFill>
              </a:defRPr>
            </a:pPr>
            <a:r>
              <a:t>Graeme Cumming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27432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D1D4D"/>
                </a:solidFill>
              </a:defRPr>
            </a:pPr>
            <a:r>
              <a:t>Key Challenges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31089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D1D4D"/>
                </a:solidFill>
              </a:defRPr>
            </a:pPr>
            <a:r>
              <a:t>• Waracle delivery tight (11 Feb) - governance sign-off in progress</a:t>
            </a:r>
          </a:p>
          <a:p>
            <a:pPr>
              <a:spcAft>
                <a:spcPts val="800"/>
              </a:spcAft>
              <a:defRPr sz="1200">
                <a:solidFill>
                  <a:srgbClr val="1D1D4D"/>
                </a:solidFill>
              </a:defRPr>
            </a:pPr>
            <a:r>
              <a:t>• SAM vendor decision pending (Q2) - Collate capability validation ongoing</a:t>
            </a:r>
          </a:p>
          <a:p>
            <a:pPr>
              <a:spcAft>
                <a:spcPts val="800"/>
              </a:spcAft>
              <a:defRPr sz="1200">
                <a:solidFill>
                  <a:srgbClr val="1D1D4D"/>
                </a:solidFill>
              </a:defRPr>
            </a:pPr>
            <a:r>
              <a:t>• Growth Case Segmentation re-prioritised to focus on 10to8 &amp; Live Chat</a:t>
            </a:r>
          </a:p>
          <a:p>
            <a:pPr>
              <a:spcAft>
                <a:spcPts val="800"/>
              </a:spcAft>
              <a:defRPr sz="1200">
                <a:solidFill>
                  <a:srgbClr val="1D1D4D"/>
                </a:solidFill>
              </a:defRPr>
            </a:pPr>
            <a:r>
              <a:t>• Direct Website FSMA cutover dependent on Part VII programme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