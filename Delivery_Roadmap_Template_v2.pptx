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Growth FY27 Forward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5F0EB"/>
                </a:solidFill>
              </a:defRPr>
            </a:pPr>
            <a:r>
              <a:t>Prioritised Roadmap &amp; Release Breakdown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C5C7A"/>
                </a:solidFill>
              </a:defRPr>
            </a:pPr>
            <a:r>
              <a:t>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D1D4D"/>
                </a:solidFill>
              </a:defRPr>
            </a:pPr>
            <a:r>
              <a:t>FY27 Delivery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C5C7A"/>
                </a:solidFill>
              </a:defRPr>
            </a:pPr>
            <a:r>
              <a:t>5 releases mapped around external constraints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2743200" cy="365760"/>
          </a:xfrm>
          <a:prstGeom prst="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D1D4D"/>
                </a:solidFill>
              </a:defRPr>
            </a:pPr>
            <a:r>
              <a:t>Q1 (Apr-Jun)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0" y="1097280"/>
            <a:ext cx="2743200" cy="365760"/>
          </a:xfrm>
          <a:prstGeom prst="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0" y="11430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D1D4D"/>
                </a:solidFill>
              </a:defRPr>
            </a:pPr>
            <a:r>
              <a:t>Q2 (Jul-Sep)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097280"/>
            <a:ext cx="2743200" cy="365760"/>
          </a:xfrm>
          <a:prstGeom prst="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11430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D1D4D"/>
                </a:solidFill>
              </a:defRPr>
            </a:pPr>
            <a:r>
              <a:t>Q3 (Oct-Dec)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1097280"/>
            <a:ext cx="2743200" cy="365760"/>
          </a:xfrm>
          <a:prstGeom prst="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11430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D1D4D"/>
                </a:solidFill>
              </a:defRPr>
            </a:pPr>
            <a:r>
              <a:t>Q4 (Jan-Mar)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645920"/>
            <a:ext cx="2743200" cy="411480"/>
          </a:xfrm>
          <a:prstGeom prst="roundRect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6916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FSMA: Blocks until Apr 2nd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1645920"/>
            <a:ext cx="5760720" cy="411480"/>
          </a:xfrm>
          <a:prstGeom prst="roundRect">
            <a:avLst/>
          </a:prstGeom>
          <a:solidFill>
            <a:srgbClr val="2D2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0" y="169164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PEGA FREEZE: Jun-Sep (No MAP changes)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1645920"/>
            <a:ext cx="2560320" cy="411480"/>
          </a:xfrm>
          <a:prstGeom prst="round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169164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Pega Go-Live: Sep 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286000"/>
            <a:ext cx="1005840" cy="502920"/>
          </a:xfrm>
          <a:prstGeom prst="round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331720"/>
            <a:ext cx="1005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PHASE 2a</a:t>
            </a:r>
            <a:br/>
            <a:r>
              <a:t>May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11680" y="2286000"/>
            <a:ext cx="1005840" cy="502920"/>
          </a:xfrm>
          <a:prstGeom prst="round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2331720"/>
            <a:ext cx="1005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JUNE</a:t>
            </a:r>
            <a:br/>
            <a:r>
              <a:t>Jun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2286000"/>
            <a:ext cx="1005840" cy="502920"/>
          </a:xfrm>
          <a:prstGeom prst="round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2331720"/>
            <a:ext cx="1005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SEPT</a:t>
            </a:r>
            <a:br/>
            <a:r>
              <a:t>Sep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20" y="2286000"/>
            <a:ext cx="1005840" cy="502920"/>
          </a:xfrm>
          <a:prstGeom prst="round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0" y="2331720"/>
            <a:ext cx="1005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NOV</a:t>
            </a:r>
            <a:br/>
            <a:r>
              <a:t>Nov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789920" y="2286000"/>
            <a:ext cx="1005840" cy="502920"/>
          </a:xfrm>
          <a:prstGeom prst="round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0" y="2331720"/>
            <a:ext cx="1005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MAR 2027</a:t>
            </a:r>
            <a:br/>
            <a:r>
              <a:t>Mar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35040"/>
            <a:ext cx="11277295" cy="594360"/>
          </a:xfrm>
          <a:prstGeom prst="round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1D1D4D"/>
                </a:solidFill>
              </a:defRPr>
            </a:pPr>
            <a:r>
              <a:t>Release timing is driven by constraints, not just priority. We're using the freeze period strategically - completing development so we're ready when slots open.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D1D4D"/>
                </a:solidFill>
              </a:defRPr>
            </a:pPr>
            <a:r>
              <a:t>Release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C5C7A"/>
                </a:solidFill>
              </a:defRPr>
            </a:pPr>
            <a:r>
              <a:t>What's in each release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2109155" cy="5303520"/>
          </a:xfrm>
          <a:prstGeom prst="roundRect">
            <a:avLst/>
          </a:prstGeom>
          <a:solidFill>
            <a:srgbClr val="E6EEF5"/>
          </a:solidFill>
          <a:ln w="254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234440"/>
            <a:ext cx="2017715" cy="502920"/>
          </a:xfrm>
          <a:prstGeom prst="round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98448"/>
            <a:ext cx="210915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PHASE 2a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28800"/>
            <a:ext cx="188969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MGS-12826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Enhance OLBM document upload messaging for case types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67712"/>
            <a:ext cx="188969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MGS-12838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Phase 2a - Product fee and LTV Enhancements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9235" y="1188720"/>
            <a:ext cx="2109155" cy="5303520"/>
          </a:xfrm>
          <a:prstGeom prst="roundRect">
            <a:avLst/>
          </a:prstGeom>
          <a:solidFill>
            <a:srgbClr val="E6EEF5"/>
          </a:solidFill>
          <a:ln w="254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94955" y="1234440"/>
            <a:ext cx="2017715" cy="502920"/>
          </a:xfrm>
          <a:prstGeom prst="round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9235" y="1298448"/>
            <a:ext cx="210915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JUNE (5)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8963" y="1828800"/>
            <a:ext cx="188969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MGS-12833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Enhance document upload capabilities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8963" y="2267712"/>
            <a:ext cx="188969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MGS-12830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DD Bank validation ESB 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8963" y="2706624"/>
            <a:ext cx="188969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MGS-12842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CRA enhancements - June target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8963" y="3145536"/>
            <a:ext cx="188969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MGS-13102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Prevent Special Characters entered in OLBM causing robots to fail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8963" y="3584448"/>
            <a:ext cx="188969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MGS-13079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Remove restriction on CC seeing property valuation details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41270" y="1188720"/>
            <a:ext cx="2109155" cy="5303520"/>
          </a:xfrm>
          <a:prstGeom prst="roundRect">
            <a:avLst/>
          </a:prstGeom>
          <a:solidFill>
            <a:srgbClr val="E6EEF5"/>
          </a:solidFill>
          <a:ln w="254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86990" y="1234440"/>
            <a:ext cx="2017715" cy="502920"/>
          </a:xfrm>
          <a:prstGeom prst="round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41270" y="1298448"/>
            <a:ext cx="210915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SEPT (5)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0998" y="1828800"/>
            <a:ext cx="188969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MGS-13098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Increase levels of robot validation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0998" y="2267712"/>
            <a:ext cx="188969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MGS-13105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Robot to park data entry exceptions until all acceptable data entered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50998" y="2706624"/>
            <a:ext cx="188969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MGS-13077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Remove restriction on BDM seeing property valuation details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0998" y="3145536"/>
            <a:ext cx="188969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MGS-13070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Make case status visible in Case Tracker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50998" y="3584448"/>
            <a:ext cx="188969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MGS-12827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Remove Valuation Visibility Restrictions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33305" y="1188720"/>
            <a:ext cx="2109155" cy="5303520"/>
          </a:xfrm>
          <a:prstGeom prst="roundRect">
            <a:avLst/>
          </a:prstGeom>
          <a:solidFill>
            <a:srgbClr val="E6EEF5"/>
          </a:solidFill>
          <a:ln w="254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79025" y="1234440"/>
            <a:ext cx="2017715" cy="502920"/>
          </a:xfrm>
          <a:prstGeom prst="round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33305" y="1298448"/>
            <a:ext cx="210915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NOV (2)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3033" y="1828800"/>
            <a:ext cx="188969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MGS-12832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Existing Customer Online Application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43033" y="2267712"/>
            <a:ext cx="188969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MGS-12831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Worldpay to Global Pay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25340" y="1188720"/>
            <a:ext cx="2109155" cy="5303520"/>
          </a:xfrm>
          <a:prstGeom prst="roundRect">
            <a:avLst/>
          </a:prstGeom>
          <a:solidFill>
            <a:srgbClr val="E6EEF5"/>
          </a:solidFill>
          <a:ln w="254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671060" y="1234440"/>
            <a:ext cx="2017715" cy="502920"/>
          </a:xfrm>
          <a:prstGeom prst="round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25340" y="1298448"/>
            <a:ext cx="210915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MAR 2027 (19)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5068" y="1828800"/>
            <a:ext cx="188969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MGS-13067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Create new fields to identify Second/Holiday Home's and pass data to PCO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35068" y="2267712"/>
            <a:ext cx="188969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MGS-13066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Create Variable Income fields and pass data to PCO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5068" y="2706624"/>
            <a:ext cx="188969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MGS-13062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Create new fields for Joint Borrower Sole Owner cases and pass to PCO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35068" y="3145536"/>
            <a:ext cx="188969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MGS-13063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Create additional fields for Self Employed (Main Income)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5068" y="3584448"/>
            <a:ext cx="188969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MGS-12823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Create Secondary Income fields and pass to PCO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35068" y="4023360"/>
            <a:ext cx="188969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MGS-13096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Improve clarity of messages in post-document review emails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5068" y="4462272"/>
            <a:ext cx="188969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MGS-12841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Replacement Mortgage Illustrator tool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35068" y="4901184"/>
            <a:ext cx="188969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MGS-13092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Add date of valuation to MAP chaser letter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35068" y="5340096"/>
            <a:ext cx="188969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MGS-13086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Improve MAP email templates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25340" y="6217920"/>
            <a:ext cx="210915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 i="1">
                <a:solidFill>
                  <a:srgbClr val="5C5C7A"/>
                </a:solidFill>
              </a:defRPr>
            </a:pPr>
            <a:r>
              <a:t>+10 more - see Jira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D1D4D"/>
                </a:solidFill>
              </a:defRPr>
            </a:pPr>
            <a:r>
              <a:t>Release: PHASE 2a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C5C7A"/>
                </a:solidFill>
              </a:defRPr>
            </a:pPr>
            <a:r>
              <a:t>Growth Phase 2a - 2 items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3657600" cy="640080"/>
          </a:xfrm>
          <a:prstGeom prst="roundRect">
            <a:avLst/>
          </a:prstGeom>
          <a:solidFill>
            <a:srgbClr val="E6EEF5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D1D4D"/>
                </a:solidFill>
              </a:defRPr>
            </a:pPr>
            <a:r>
              <a:t>Case Segmentation: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1097280"/>
            <a:ext cx="3657600" cy="640080"/>
          </a:xfrm>
          <a:prstGeom prst="roundRect">
            <a:avLst/>
          </a:prstGeom>
          <a:solidFill>
            <a:srgbClr val="1D1D4D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5196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Communications: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097280"/>
            <a:ext cx="3657600" cy="640080"/>
          </a:xfrm>
          <a:prstGeom prst="roundRect">
            <a:avLst/>
          </a:prstGeom>
          <a:solidFill>
            <a:srgbClr val="1D1D4D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Operational Efficiencies: 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920240"/>
          <a:ext cx="10698480" cy="9601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640080"/>
                <a:gridCol w="914400"/>
                <a:gridCol w="1828800"/>
                <a:gridCol w="68580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WSJF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Objective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Summary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9.4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MGS-12826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Communications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Enhance OLBM document upload messaging for case types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1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6.0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MGS-12838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Operational Efficiencies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Phase 2a - Product fee and LTV Enhancements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D1D4D"/>
                </a:solidFill>
              </a:defRPr>
            </a:pPr>
            <a:r>
              <a:t>Release: JUNE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C5C7A"/>
                </a:solidFill>
              </a:defRPr>
            </a:pPr>
            <a:r>
              <a:t>Growth June Release - 5 items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3657600" cy="640080"/>
          </a:xfrm>
          <a:prstGeom prst="roundRect">
            <a:avLst/>
          </a:prstGeom>
          <a:solidFill>
            <a:srgbClr val="E6EEF5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D1D4D"/>
                </a:solidFill>
              </a:defRPr>
            </a:pPr>
            <a:r>
              <a:t>Case Segmentation: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1097280"/>
            <a:ext cx="3657600" cy="640080"/>
          </a:xfrm>
          <a:prstGeom prst="roundRect">
            <a:avLst/>
          </a:prstGeom>
          <a:solidFill>
            <a:srgbClr val="1D1D4D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5196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Communications: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097280"/>
            <a:ext cx="3657600" cy="640080"/>
          </a:xfrm>
          <a:prstGeom prst="roundRect">
            <a:avLst/>
          </a:prstGeom>
          <a:solidFill>
            <a:srgbClr val="1D1D4D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Operational Efficiencies: 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920240"/>
          <a:ext cx="1069848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640080"/>
                <a:gridCol w="914400"/>
                <a:gridCol w="1828800"/>
                <a:gridCol w="68580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WSJF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Objective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Summary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MGS-12833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Operational Efficiencies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Enhance document upload capabilities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5.0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MGS-12830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Operational Efficiencies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DD Bank validation ESB Service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2.8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MGS-12842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Operational Efficiencies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CRA enhancements - June target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33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1.6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MGS-13102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Operational Efficiencies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Prevent Special Characters entered in OLBM causing robots to...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1.6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Communications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Remove restriction on CC seeing property valuation details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D1D4D"/>
                </a:solidFill>
              </a:defRPr>
            </a:pPr>
            <a:r>
              <a:t>Release: SEPT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C5C7A"/>
                </a:solidFill>
              </a:defRPr>
            </a:pPr>
            <a:r>
              <a:t>Growth September Release - 5 items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3657600" cy="640080"/>
          </a:xfrm>
          <a:prstGeom prst="roundRect">
            <a:avLst/>
          </a:prstGeom>
          <a:solidFill>
            <a:srgbClr val="E6EEF5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D1D4D"/>
                </a:solidFill>
              </a:defRPr>
            </a:pPr>
            <a:r>
              <a:t>Case Segmentation: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1097280"/>
            <a:ext cx="3657600" cy="640080"/>
          </a:xfrm>
          <a:prstGeom prst="roundRect">
            <a:avLst/>
          </a:prstGeom>
          <a:solidFill>
            <a:srgbClr val="1D1D4D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5196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Communications: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097280"/>
            <a:ext cx="3657600" cy="640080"/>
          </a:xfrm>
          <a:prstGeom prst="roundRect">
            <a:avLst/>
          </a:prstGeom>
          <a:solidFill>
            <a:srgbClr val="1D1D4D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Operational Efficiencies: 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920240"/>
          <a:ext cx="1069848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640080"/>
                <a:gridCol w="914400"/>
                <a:gridCol w="1828800"/>
                <a:gridCol w="68580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WSJF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Objective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Summary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5.2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Operational Efficiencies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Increase levels of robot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32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1.9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MGS-13105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Operational Efficiencies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Robot to park data entry exceptions until all acceptable dat...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1.6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Communications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Remove restriction on BDM seeing property valuation details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39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0.8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MGS-13070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Communications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Make case status visible in Case Tracker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0.8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MGS-12827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Communications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Remove Valuation Visibility Restrictions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D1D4D"/>
                </a:solidFill>
              </a:defRPr>
            </a:pPr>
            <a:r>
              <a:t>Release: NOV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C5C7A"/>
                </a:solidFill>
              </a:defRPr>
            </a:pPr>
            <a:r>
              <a:t>Growth November Release - 2 items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3657600" cy="640080"/>
          </a:xfrm>
          <a:prstGeom prst="roundRect">
            <a:avLst/>
          </a:prstGeom>
          <a:solidFill>
            <a:srgbClr val="E6EEF5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D1D4D"/>
                </a:solidFill>
              </a:defRPr>
            </a:pPr>
            <a:r>
              <a:t>Case Segmentation: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1097280"/>
            <a:ext cx="3657600" cy="640080"/>
          </a:xfrm>
          <a:prstGeom prst="roundRect">
            <a:avLst/>
          </a:prstGeom>
          <a:solidFill>
            <a:srgbClr val="E6EEF5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5196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D1D4D"/>
                </a:solidFill>
              </a:defRPr>
            </a:pPr>
            <a:r>
              <a:t>Communications: 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097280"/>
            <a:ext cx="3657600" cy="640080"/>
          </a:xfrm>
          <a:prstGeom prst="roundRect">
            <a:avLst/>
          </a:prstGeom>
          <a:solidFill>
            <a:srgbClr val="1D1D4D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Operational Efficiencies: 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920240"/>
          <a:ext cx="10698480" cy="9601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640080"/>
                <a:gridCol w="914400"/>
                <a:gridCol w="1828800"/>
                <a:gridCol w="68580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WSJF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Objective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Summary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2.4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MGS-12832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Operational Efficiencies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Existing Customer Online Application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1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31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2.0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MGS-12831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Operational Efficiencies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Worldpay to Global Pay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D1D4D"/>
                </a:solidFill>
              </a:defRPr>
            </a:pPr>
            <a:r>
              <a:t>Release: MAR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C5C7A"/>
                </a:solidFill>
              </a:defRPr>
            </a:pPr>
            <a:r>
              <a:t>Growth 2027 Release - 19 items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3657600" cy="640080"/>
          </a:xfrm>
          <a:prstGeom prst="roundRect">
            <a:avLst/>
          </a:prstGeom>
          <a:solidFill>
            <a:srgbClr val="1D1D4D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Case Segmentation: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1097280"/>
            <a:ext cx="3657600" cy="640080"/>
          </a:xfrm>
          <a:prstGeom prst="roundRect">
            <a:avLst/>
          </a:prstGeom>
          <a:solidFill>
            <a:srgbClr val="1D1D4D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5196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Communications: 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097280"/>
            <a:ext cx="3657600" cy="640080"/>
          </a:xfrm>
          <a:prstGeom prst="roundRect">
            <a:avLst/>
          </a:prstGeom>
          <a:solidFill>
            <a:srgbClr val="1D1D4D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Operational Efficiencies: 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920240"/>
          <a:ext cx="1069848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640080"/>
                <a:gridCol w="914400"/>
                <a:gridCol w="1828800"/>
                <a:gridCol w="6858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WSJF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Objective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Summary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Case Segmentation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Create new fields to identify Second/Holiday Home's and pass...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8.0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MGS-13066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Case Segmentation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Create Variable Income fields and pass data to PCO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Case Segmentation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Create new fields for Joint Borrower Sole Owner cases and pa...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7.4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MGS-13063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Case Segmentation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Create additional fields for Self Employed (Main Income)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7.4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MGS-12823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Case Segmentation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Create Secondary Income fields and pass to PCO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3.8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MGS-13096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Communications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Improve clarity of messages in post-document review emails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MGS-12841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Operational Efficiencies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Replacement Mortgage Illustrator 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3.2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MGS-13092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Communications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Add date of valuation to MAP chaser letter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Communications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Improve MAP email templates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3.2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MGS-13083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Communications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Improve wording of MAP chaser emails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Communications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Make offer status and timescales visible in OLBM and 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2.8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MGS-12839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Operational Efficiencies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Reduce AIP Queries to Underwriters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62179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5C5C7A"/>
                </a:solidFill>
              </a:defRPr>
            </a:pPr>
            <a:r>
              <a:t>+ 7 more items - see Jira for full list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