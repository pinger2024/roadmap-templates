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Growth FY27 Forward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5F0EB"/>
                </a:solidFill>
              </a:defRPr>
            </a:pPr>
            <a:r>
              <a:t>Prioritised Roadmap &amp; Release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C5C7A"/>
                </a:solidFill>
              </a:defRPr>
            </a:pPr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FY27 Delivery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5 releases mapped around external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Q1 (Apr-Jun)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097280"/>
            <a:ext cx="2743200" cy="36576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143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Q2 (Jul-Sep)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97280"/>
            <a:ext cx="2743200" cy="36576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143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Q3 (Oct-Dec)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097280"/>
            <a:ext cx="2743200" cy="36576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143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D1D4D"/>
                </a:solidFill>
              </a:defRPr>
            </a:pPr>
            <a:r>
              <a:t>Q4 (Jan-Mar)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45920"/>
            <a:ext cx="2743200" cy="411480"/>
          </a:xfrm>
          <a:prstGeom prst="roundRect">
            <a:avLst/>
          </a:prstGeom>
          <a:solidFill>
            <a:srgbClr val="E5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FSMA: Blocks until Apr 2nd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645920"/>
            <a:ext cx="5760720" cy="411480"/>
          </a:xfrm>
          <a:prstGeom prst="roundRect">
            <a:avLst/>
          </a:prstGeom>
          <a:solidFill>
            <a:srgbClr val="2D2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69164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PEGA FREEZE: Jun-Sep (No MAP changes)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45920"/>
            <a:ext cx="2560320" cy="41148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6916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Pega Go-Live: Sep 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2a</a:t>
            </a:r>
            <a:br/>
            <a:r>
              <a:t>May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JUNE</a:t>
            </a:r>
            <a:br/>
            <a:r>
              <a:t>Jun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SEPT</a:t>
            </a:r>
            <a:br/>
            <a:r>
              <a:t>Sep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NOV</a:t>
            </a:r>
            <a:br/>
            <a:r>
              <a:t>Nov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89920" y="2286000"/>
            <a:ext cx="1005840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0" y="2331720"/>
            <a:ext cx="1005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MAR 2027</a:t>
            </a:r>
            <a:br/>
            <a:r>
              <a:t>Mar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35040"/>
            <a:ext cx="11277295" cy="594360"/>
          </a:xfrm>
          <a:prstGeom prst="round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D1D4D"/>
                </a:solidFill>
              </a:defRPr>
            </a:pPr>
            <a:r>
              <a:t>Release timing is driven by constraints, not just priority. We're using the freeze period strategically - completing development so we're ready when slots open.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What's in each release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109155" cy="5084064"/>
          </a:xfrm>
          <a:prstGeom prst="roundRect">
            <a:avLst/>
          </a:prstGeom>
          <a:solidFill>
            <a:srgbClr val="E6EEF5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017715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1091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 2a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MGS-12826: Enhance OLBM document upload...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76272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MGS-12838: Phase 2a - Product fee and LTV...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9235" y="1188720"/>
            <a:ext cx="2109155" cy="5084064"/>
          </a:xfrm>
          <a:prstGeom prst="roundRect">
            <a:avLst/>
          </a:prstGeom>
          <a:solidFill>
            <a:srgbClr val="E6EEF5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94955" y="1234440"/>
            <a:ext cx="2017715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9235" y="1298448"/>
            <a:ext cx="21091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JUNE (5)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8963" y="1828800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MGS-12833: Enhance document upload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8963" y="2176272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MGS-12830: DD Bank validation ESB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8963" y="2523744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MGS-12842: CRA enhancements - June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8963" y="2871216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MGS-13102: Prevent Special Characters entered...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8963" y="3218688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MGS-13079: Remove restriction on CC seeing...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1188720"/>
            <a:ext cx="2109155" cy="5084064"/>
          </a:xfrm>
          <a:prstGeom prst="roundRect">
            <a:avLst/>
          </a:prstGeom>
          <a:solidFill>
            <a:srgbClr val="E6EEF5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86990" y="1234440"/>
            <a:ext cx="2017715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1270" y="1298448"/>
            <a:ext cx="21091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SEPT (5)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0998" y="1828800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MGS-13098: Increase levels of robot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0998" y="2176272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MGS-13105: Robot to park data entry exceptions...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0998" y="2523744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MGS-13077: Remove restriction on BDM seeing...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0998" y="2871216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MGS-13070: Make case status visible in Case...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0998" y="3218688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MGS-12827: Remove Valuation Visibility...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33305" y="1188720"/>
            <a:ext cx="2109155" cy="5084064"/>
          </a:xfrm>
          <a:prstGeom prst="roundRect">
            <a:avLst/>
          </a:prstGeom>
          <a:solidFill>
            <a:srgbClr val="E6EEF5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79025" y="1234440"/>
            <a:ext cx="2017715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305" y="1298448"/>
            <a:ext cx="21091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NOV (2)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033" y="1828800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MGS-12832: Existing Customer Online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033" y="2176272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MGS-12831: Worldpay to Global Pay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25340" y="1188720"/>
            <a:ext cx="2109155" cy="5084064"/>
          </a:xfrm>
          <a:prstGeom prst="roundRect">
            <a:avLst/>
          </a:prstGeom>
          <a:solidFill>
            <a:srgbClr val="E6EEF5"/>
          </a:solidFill>
          <a:ln w="254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71060" y="1234440"/>
            <a:ext cx="2017715" cy="502920"/>
          </a:xfrm>
          <a:prstGeom prst="roundRect">
            <a:avLst/>
          </a:prstGeom>
          <a:solidFill>
            <a:srgbClr val="1D1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25340" y="1298448"/>
            <a:ext cx="21091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MAR 2027 (19)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5068" y="1828800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MGS-13067: Create new fields to identify...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5068" y="2176272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MGS-13066: Create Variable Income fields and...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5068" y="2523744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MGS-13062: Create new fields for Joint...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5068" y="2871216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MGS-13063: Create additional fields for Self...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5068" y="3218688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MGS-12823: Create Secondary Income fields and...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5068" y="3566160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MGS-13096: Improve clarity of messages in...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5068" y="3913632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MGS-12841: Replacement Mortgage Illustrator...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5068" y="4261104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MGS-13092: Add date of valuation to MAP chaser...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5068" y="4608576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MGS-13086: Improve MAP email templates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5068" y="4956048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MGS-13083: Improve wording of MAP chaser emails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5068" y="5303520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MGS-13073: Make offer status and timescales...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5068" y="5650992"/>
            <a:ext cx="188969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1D1D4D"/>
                </a:solidFill>
              </a:defRPr>
            </a:pPr>
            <a:r>
              <a:t>MGS-12839: Reduce AIP Queries to Underwriters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25340" y="5998464"/>
            <a:ext cx="210915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5C5C7A"/>
                </a:solidFill>
              </a:defRPr>
            </a:pPr>
            <a:r>
              <a:t>+7 more items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PHASE 2a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Phase 2a - 2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Case Segmentation: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Communications: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9.4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Enhance OLBM document upload messaging for case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6.0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Phase 2a - Product fee and LTV Enhancements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JUNE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June Release - 5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Case Segmentation: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Communications: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Enhance document upload capabilities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5.0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DD Bank validation ESB Service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CRA enhancements - June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MGS-13102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Prevent Special Characters entered in OLBM causing robots to...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Remove restriction on CC seeing property valuation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SEPT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September Release - 5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Case Segmentation: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Communications: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5.2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Increase levels of robot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1.9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MGS-13105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Robot to park data entry exceptions until all acceptable dat...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Remove restriction on BDM seeing property valuation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MGS-13070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Make case status visible in Case Tracker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Remove Valuation Visibility Restrictions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NOV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November Release - 2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Case Segmentation: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E6EEF5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D1D4D"/>
                </a:solidFill>
              </a:defRPr>
            </a:pPr>
            <a:r>
              <a:t>Communications: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Existing Customer Online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2.0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MGS-12831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Worldpay to Global Pay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4D"/>
                </a:solidFill>
              </a:defRPr>
            </a:pPr>
            <a:r>
              <a:t>Release: MAR 2027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5C7A"/>
                </a:solidFill>
              </a:defRPr>
            </a:pPr>
            <a:r>
              <a:t>Growth 2027 Release - 19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Case Segmentation: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Communications: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097280"/>
            <a:ext cx="3657600" cy="640080"/>
          </a:xfrm>
          <a:prstGeom prst="roundRect">
            <a:avLst/>
          </a:prstGeom>
          <a:solidFill>
            <a:srgbClr val="1D1D4D"/>
          </a:solidFill>
          <a:ln w="12700">
            <a:solidFill>
              <a:srgbClr val="1D1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57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Operational Efficiencies: 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920240"/>
          <a:ext cx="106984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40080"/>
                <a:gridCol w="914400"/>
                <a:gridCol w="1828800"/>
                <a:gridCol w="68580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WSJF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Objective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Summary</a:t>
                      </a:r>
                    </a:p>
                  </a:txBody>
                  <a:tcPr>
                    <a:solidFill>
                      <a:srgbClr val="1D1D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new fields to identify Second/Holiday Home's and pass...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MGS-13066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Variable Income fields and pass data to PCO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new fields for Joint Borrower Sole Owner cases and pa...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7.4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MGS-13063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additional fields for Self Employed (Main Income)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Case Segmentation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Create Secondary Income fields and pass to PCO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MGS-13096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Improve clarity of messages in post-document review emails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Replacement Mortgage Illustrator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MGS-13092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Add date of valuation to MAP chaser letter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Improve MAP email templates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MGS-13083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Improve wording of MAP chaser emails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MGS-13073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Communications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Make offer status and timescales visible in OLBM and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2.8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MGS-12839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Operational Efficiencies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D1D4D"/>
                          </a:solidFill>
                        </a:defRPr>
                      </a:pPr>
                      <a:r>
                        <a:t>Reduce AIP Queries to Underwriters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C5C7A"/>
                </a:solidFill>
              </a:defRPr>
            </a:pPr>
            <a:r>
              <a:t>+ 7 more items - see Jira for full 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