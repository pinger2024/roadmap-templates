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Growth FY27 Forward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5F0EB"/>
                </a:solidFill>
              </a:defRPr>
            </a:pPr>
            <a:r>
              <a:t>Prioritised Roadmap &amp; Release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C5C7A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FY27 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5 releases mapped around external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Q1 (Apr-Jun)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Q2 (Jul-Sep)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Q3 (Oct-Dec)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097280"/>
            <a:ext cx="2743200" cy="36576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1430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Q4 (Jan-Mar)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45920"/>
            <a:ext cx="2743200" cy="411480"/>
          </a:xfrm>
          <a:prstGeom prst="round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FSMA: Blocks until Apr 2nd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645920"/>
            <a:ext cx="5760720" cy="411480"/>
          </a:xfrm>
          <a:prstGeom prst="roundRect">
            <a:avLst/>
          </a:prstGeom>
          <a:solidFill>
            <a:srgbClr val="2D2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169164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FREEZE: Jun-Sep (No MAP changes)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645920"/>
            <a:ext cx="2560320" cy="41148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69164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Pega Go-Live: Sep 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PHASE 2a</a:t>
            </a:r>
            <a:br/>
            <a:r>
              <a:t>May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JUNE</a:t>
            </a:r>
            <a:br/>
            <a:r>
              <a:t>Jun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SEPT</a:t>
            </a:r>
            <a:br/>
            <a:r>
              <a:t>Sep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NOV</a:t>
            </a:r>
            <a:br/>
            <a:r>
              <a:t>Nov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0" y="2286000"/>
            <a:ext cx="1005840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23317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 2027</a:t>
            </a:r>
            <a:br/>
            <a:r>
              <a:t>Mar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35040"/>
            <a:ext cx="11277295" cy="594360"/>
          </a:xfrm>
          <a:prstGeom prst="round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1D1D4D"/>
                </a:solidFill>
              </a:defRPr>
            </a:pPr>
            <a:r>
              <a:t>Release timing is driven by constraints, not just priority. We're using the freeze period strategically - completing development so we're ready when slots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What's in each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PHASE 2a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OLBM document upload messaging for case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Phase 2a - Product fee and LTV Enhancements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9235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4955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9235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JUNE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8963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Enhance document upload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8963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DD Bank validation ESB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8963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CRA enhancements - June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8963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Prevent Special Characters entered in OLBM causing robots to 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8963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MGS-13079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CC seeing property valuation details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699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127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SEPT (5)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099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MGS-13098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Increase levels of robot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099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MGS-13105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Robot to park data entry exceptions until all acceptable data entered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0998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restriction on BDM seeing property valuation details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0998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MGS-13070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Make case status visible in Case Tracker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0998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Remove Valuation Visibility Restrictions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305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79025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305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NOV 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033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Existing Customer Online Application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033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MGS-12831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Worldpay to Global Pay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5340" y="1097280"/>
            <a:ext cx="2109155" cy="5486400"/>
          </a:xfrm>
          <a:prstGeom prst="roundRect">
            <a:avLst/>
          </a:prstGeom>
          <a:solidFill>
            <a:srgbClr val="E6EEF5"/>
          </a:solidFill>
          <a:ln w="254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71060" y="1143000"/>
            <a:ext cx="2017715" cy="502920"/>
          </a:xfrm>
          <a:prstGeom prst="round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5340" y="1207008"/>
            <a:ext cx="21091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MAR 2027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5068" y="17373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MGS-13067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to identify Second/Holiday Home's and pass data to PCO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5068" y="21488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Variable Income fields and pass data to PCO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5068" y="25603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new fields for Joint Borrower Sole Owner cases and pass to PCO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5068" y="29718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MGS-13063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additional fields for Self Employed (Main Income)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5068" y="33832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MGS-12823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Create Secondary Income fields and pass to PCO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5068" y="37947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clarity of messages in post-document review emails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5068" y="420624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MGS-12841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Replacement Mortgage Illustrator tool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5068" y="461772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MGS-13092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Add date of valuation to MAP chaser letter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5068" y="502920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MGS-13086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MAP email templates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35068" y="544068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MGS-13083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Improve wording of MAP chaser emails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5068" y="5852160"/>
            <a:ext cx="188969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1D1D4D"/>
                </a:solidFill>
              </a:defRPr>
            </a:pPr>
            <a:r>
              <a:t>MGS-13073</a:t>
            </a:r>
          </a:p>
          <a:p>
            <a:pPr>
              <a:defRPr sz="700">
                <a:solidFill>
                  <a:srgbClr val="5C5C7A"/>
                </a:solidFill>
              </a:defRPr>
            </a:pPr>
            <a:r>
              <a:t>Make offer status and timescales visible in OLBM and MAP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5340" y="6309360"/>
            <a:ext cx="210915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i="1">
                <a:solidFill>
                  <a:srgbClr val="5C5C7A"/>
                </a:solidFill>
              </a:defRPr>
            </a:pPr>
            <a:r>
              <a:t>+8 more - see Jira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PHASE 2a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Phase 2a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OLBM document upload messaging for case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Phase 2a - Product fee and LTV Enhancements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JUNE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June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Enhance document upload capabilities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DD Bank validation ESB Service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CRA enhancements - June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Prevent Special Characters entered in OLBM causing robots to...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CC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September Release - 5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Increase levels of robot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MGS-13105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Robot to park data entry exceptions until all acceptable dat...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restriction on BDM seeing property valuation 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case status visible in Case Tracker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Remove Valuation Visibility Restrictions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NOV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November Release - 2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Case Segmentation: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E6EEF5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D1D4D"/>
                </a:solidFill>
              </a:defRPr>
            </a:pPr>
            <a:r>
              <a:t>Communications: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Existing Customer Online 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MGS-12831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Worldpay to Global Pay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D1D4D"/>
                </a:solidFill>
              </a:defRPr>
            </a:pPr>
            <a:r>
              <a:t>Release: MAR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C5C7A"/>
                </a:solidFill>
              </a:defRPr>
            </a:pPr>
            <a:r>
              <a:t>Growth 2027 Release - 19 items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Case Segmentation: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Communications: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97280"/>
            <a:ext cx="3657600" cy="640080"/>
          </a:xfrm>
          <a:prstGeom prst="roundRect">
            <a:avLst/>
          </a:prstGeom>
          <a:solidFill>
            <a:srgbClr val="1D1D4D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18872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Operational Efficiencies: 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920240"/>
          <a:ext cx="1069848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640080"/>
                <a:gridCol w="914400"/>
                <a:gridCol w="18288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WSJF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Summary</a:t>
                      </a:r>
                    </a:p>
                  </a:txBody>
                  <a:tcPr>
                    <a:solidFill>
                      <a:srgbClr val="1D1D4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to identify Second/Holiday Home's and pass...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Variable Income fields and pass data to PCO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new fields for Joint Borrower Sole Owner cases and pa...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MGS-13063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additional fields for Self Employed (Main Income)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Case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Create Secondary Income fields and pass to PCO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MGS-13096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clarity of messages in post-document review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Replacement Mortgage Illustrator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MGS-13092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Add date of valuation to MAP chaser letter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MAP email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MGS-13083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Improve wording of MAP chaser emails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MGS-13073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Make offer status and timescales visible in OLBM and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2.8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MGS-12839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Operational Efficiencies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D1D4D"/>
                          </a:solidFill>
                        </a:defRPr>
                      </a:pPr>
                      <a:r>
                        <a:t>Reduce AIP Queries to Underwriters</a:t>
                      </a:r>
                    </a:p>
                  </a:txBody>
                  <a:tcPr>
                    <a:solidFill>
                      <a:srgbClr val="E6EE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5C5C7A"/>
                </a:solidFill>
              </a:defRPr>
            </a:pPr>
            <a:r>
              <a:t>+ 7 more items - see Jira for full 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