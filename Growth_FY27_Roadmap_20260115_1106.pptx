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1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Growth FY27 Forward Look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5F0EB"/>
                </a:solidFill>
              </a:defRPr>
            </a:pPr>
            <a:r>
              <a:t>Prioritised Roadmap &amp; Release Breakdown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5C5C7A"/>
                </a:solidFill>
              </a:defRPr>
            </a:pPr>
            <a:r>
              <a:t>January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D1D4D"/>
                </a:solidFill>
              </a:defRPr>
            </a:pPr>
            <a:r>
              <a:t>FY27 Delivery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C5C7A"/>
                </a:solidFill>
              </a:defRPr>
            </a:pPr>
            <a:r>
              <a:t>5 releases mapped around external constraints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2743200" cy="365760"/>
          </a:xfrm>
          <a:prstGeom prst="rect">
            <a:avLst/>
          </a:prstGeom>
          <a:solidFill>
            <a:srgbClr val="E6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D1D4D"/>
                </a:solidFill>
              </a:defRPr>
            </a:pPr>
            <a:r>
              <a:t>Q1 (Apr-Jun)</a:t>
            </a:r>
          </a:p>
        </p:txBody>
      </p:sp>
      <p:sp>
        <p:nvSpPr>
          <p:cNvPr id="6" name="Rectangle 5"/>
          <p:cNvSpPr/>
          <p:nvPr/>
        </p:nvSpPr>
        <p:spPr>
          <a:xfrm>
            <a:off x="3291840" y="1097280"/>
            <a:ext cx="2743200" cy="365760"/>
          </a:xfrm>
          <a:prstGeom prst="rect">
            <a:avLst/>
          </a:prstGeom>
          <a:solidFill>
            <a:srgbClr val="E6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91840" y="114300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D1D4D"/>
                </a:solidFill>
              </a:defRPr>
            </a:pPr>
            <a:r>
              <a:t>Q2 (Jul-Sep)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0" y="1097280"/>
            <a:ext cx="2743200" cy="365760"/>
          </a:xfrm>
          <a:prstGeom prst="rect">
            <a:avLst/>
          </a:prstGeom>
          <a:solidFill>
            <a:srgbClr val="E6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0" y="114300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D1D4D"/>
                </a:solidFill>
              </a:defRPr>
            </a:pPr>
            <a:r>
              <a:t>Q3 (Oct-Dec)</a:t>
            </a:r>
          </a:p>
        </p:txBody>
      </p:sp>
      <p:sp>
        <p:nvSpPr>
          <p:cNvPr id="10" name="Rectangle 9"/>
          <p:cNvSpPr/>
          <p:nvPr/>
        </p:nvSpPr>
        <p:spPr>
          <a:xfrm>
            <a:off x="8961120" y="1097280"/>
            <a:ext cx="2743200" cy="365760"/>
          </a:xfrm>
          <a:prstGeom prst="rect">
            <a:avLst/>
          </a:prstGeom>
          <a:solidFill>
            <a:srgbClr val="E6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0" y="114300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D1D4D"/>
                </a:solidFill>
              </a:defRPr>
            </a:pPr>
            <a:r>
              <a:t>Q4 (Jan-Mar)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1645920"/>
            <a:ext cx="2743200" cy="411480"/>
          </a:xfrm>
          <a:prstGeom prst="roundRect">
            <a:avLst/>
          </a:prstGeom>
          <a:solidFill>
            <a:srgbClr val="E5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169164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FSMA: Blocks until Apr 2nd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91840" y="1645920"/>
            <a:ext cx="5760720" cy="411480"/>
          </a:xfrm>
          <a:prstGeom prst="roundRect">
            <a:avLst/>
          </a:prstGeom>
          <a:solidFill>
            <a:srgbClr val="2D2D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91840" y="1691640"/>
            <a:ext cx="5760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PEGA FREEZE: Jun-Sep (No MAP changes)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0" y="1645920"/>
            <a:ext cx="2560320" cy="411480"/>
          </a:xfrm>
          <a:prstGeom prst="roundRect">
            <a:avLst/>
          </a:prstGeom>
          <a:solidFill>
            <a:srgbClr val="1D1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0" y="169164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Pega Go-Live: Sep 26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2286000"/>
            <a:ext cx="1005840" cy="502920"/>
          </a:xfrm>
          <a:prstGeom prst="roundRect">
            <a:avLst/>
          </a:prstGeom>
          <a:solidFill>
            <a:srgbClr val="1D1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2331720"/>
            <a:ext cx="1005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PHASE 2a</a:t>
            </a:r>
            <a:br/>
            <a:r>
              <a:t>May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011680" y="2286000"/>
            <a:ext cx="1005840" cy="502920"/>
          </a:xfrm>
          <a:prstGeom prst="roundRect">
            <a:avLst/>
          </a:prstGeom>
          <a:solidFill>
            <a:srgbClr val="1D1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011680" y="2331720"/>
            <a:ext cx="1005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JUNE</a:t>
            </a:r>
            <a:br/>
            <a:r>
              <a:t>Jun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2286000"/>
            <a:ext cx="1005840" cy="502920"/>
          </a:xfrm>
          <a:prstGeom prst="roundRect">
            <a:avLst/>
          </a:prstGeom>
          <a:solidFill>
            <a:srgbClr val="1D1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17920" y="2331720"/>
            <a:ext cx="1005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SEPT</a:t>
            </a:r>
            <a:br/>
            <a:r>
              <a:t>Sep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61120" y="2286000"/>
            <a:ext cx="1005840" cy="502920"/>
          </a:xfrm>
          <a:prstGeom prst="roundRect">
            <a:avLst/>
          </a:prstGeom>
          <a:solidFill>
            <a:srgbClr val="1D1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61120" y="2331720"/>
            <a:ext cx="1005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NOV</a:t>
            </a:r>
            <a:br/>
            <a:r>
              <a:t>Nov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789920" y="2286000"/>
            <a:ext cx="1005840" cy="502920"/>
          </a:xfrm>
          <a:prstGeom prst="roundRect">
            <a:avLst/>
          </a:prstGeom>
          <a:solidFill>
            <a:srgbClr val="1D1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789920" y="2331720"/>
            <a:ext cx="1005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MAR 2027</a:t>
            </a:r>
            <a:br/>
            <a:r>
              <a:t>Mar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6035040"/>
            <a:ext cx="11277295" cy="594360"/>
          </a:xfrm>
          <a:prstGeom prst="roundRect">
            <a:avLst/>
          </a:prstGeom>
          <a:solidFill>
            <a:srgbClr val="E6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61264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1D1D4D"/>
                </a:solidFill>
              </a:defRPr>
            </a:pPr>
            <a:r>
              <a:t>Release timing is driven by constraints, not just priority. We're using the freeze period strategically - completing development so we're ready when slots open.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D1D4D"/>
                </a:solidFill>
              </a:defRPr>
            </a:pPr>
            <a:r>
              <a:t>Release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C5C7A"/>
                </a:solidFill>
              </a:defRPr>
            </a:pPr>
            <a:r>
              <a:t>What's in each release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2145731" cy="4572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D1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2145731" cy="548640"/>
          </a:xfrm>
          <a:prstGeom prst="rect">
            <a:avLst/>
          </a:prstGeom>
          <a:solidFill>
            <a:srgbClr val="1D1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2145731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PHASE 2a</a:t>
            </a:r>
            <a:br/>
            <a:r>
              <a:t>2 items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828800"/>
            <a:ext cx="2054291" cy="384048"/>
          </a:xfrm>
          <a:prstGeom prst="rect">
            <a:avLst/>
          </a:prstGeom>
          <a:solidFill>
            <a:srgbClr val="E6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847088"/>
            <a:ext cx="1962851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1D1D4D"/>
                </a:solidFill>
              </a:defRPr>
            </a:pPr>
            <a:r>
              <a:t>#3 MGS-12826</a:t>
            </a:r>
          </a:p>
          <a:p>
            <a:pPr>
              <a:defRPr sz="800">
                <a:solidFill>
                  <a:srgbClr val="5C5C7A"/>
                </a:solidFill>
              </a:defRPr>
            </a:pPr>
            <a:r>
              <a:t>Enhance OLBM document upload messaging f...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212848"/>
            <a:ext cx="2054291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231136"/>
            <a:ext cx="1962851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1D1D4D"/>
                </a:solidFill>
              </a:defRPr>
            </a:pPr>
            <a:r>
              <a:t>#13 MGS-12838</a:t>
            </a:r>
          </a:p>
          <a:p>
            <a:pPr>
              <a:defRPr sz="800">
                <a:solidFill>
                  <a:srgbClr val="5C5C7A"/>
                </a:solidFill>
              </a:defRPr>
            </a:pPr>
            <a:r>
              <a:t>Phase 2a - Product fee and LTV Enhanceme...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0091" y="1188720"/>
            <a:ext cx="2145731" cy="4572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D1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40091" y="1188720"/>
            <a:ext cx="2145731" cy="548640"/>
          </a:xfrm>
          <a:prstGeom prst="rect">
            <a:avLst/>
          </a:prstGeom>
          <a:solidFill>
            <a:srgbClr val="1D1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0091" y="1280160"/>
            <a:ext cx="2145731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JUNE</a:t>
            </a:r>
            <a:br/>
            <a:r>
              <a:t>5 items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85811" y="1828800"/>
            <a:ext cx="2054291" cy="384048"/>
          </a:xfrm>
          <a:prstGeom prst="rect">
            <a:avLst/>
          </a:prstGeom>
          <a:solidFill>
            <a:srgbClr val="E6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31531" y="1847088"/>
            <a:ext cx="1962851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1D1D4D"/>
                </a:solidFill>
              </a:defRPr>
            </a:pPr>
            <a:r>
              <a:t>#7 MGS-12833</a:t>
            </a:r>
          </a:p>
          <a:p>
            <a:pPr>
              <a:defRPr sz="800">
                <a:solidFill>
                  <a:srgbClr val="5C5C7A"/>
                </a:solidFill>
              </a:defRPr>
            </a:pPr>
            <a:r>
              <a:t>Enhance document upload capabilities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85811" y="2212848"/>
            <a:ext cx="2054291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31531" y="2231136"/>
            <a:ext cx="1962851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1D1D4D"/>
                </a:solidFill>
              </a:defRPr>
            </a:pPr>
            <a:r>
              <a:t>#16 MGS-12830</a:t>
            </a:r>
          </a:p>
          <a:p>
            <a:pPr>
              <a:defRPr sz="800">
                <a:solidFill>
                  <a:srgbClr val="5C5C7A"/>
                </a:solidFill>
              </a:defRPr>
            </a:pPr>
            <a:r>
              <a:t>DD Bank validation ESB Service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85811" y="2596896"/>
            <a:ext cx="2054291" cy="384048"/>
          </a:xfrm>
          <a:prstGeom prst="rect">
            <a:avLst/>
          </a:prstGeom>
          <a:solidFill>
            <a:srgbClr val="E6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831531" y="2615184"/>
            <a:ext cx="1962851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1D1D4D"/>
                </a:solidFill>
              </a:defRPr>
            </a:pPr>
            <a:r>
              <a:t>#24 MGS-12842</a:t>
            </a:r>
          </a:p>
          <a:p>
            <a:pPr>
              <a:defRPr sz="800">
                <a:solidFill>
                  <a:srgbClr val="5C5C7A"/>
                </a:solidFill>
              </a:defRPr>
            </a:pPr>
            <a:r>
              <a:t>CRA enhancements - June target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85811" y="2980944"/>
            <a:ext cx="2054291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831531" y="2999232"/>
            <a:ext cx="1962851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1D1D4D"/>
                </a:solidFill>
              </a:defRPr>
            </a:pPr>
            <a:r>
              <a:t>#33 MGS-13102</a:t>
            </a:r>
          </a:p>
          <a:p>
            <a:pPr>
              <a:defRPr sz="800">
                <a:solidFill>
                  <a:srgbClr val="5C5C7A"/>
                </a:solidFill>
              </a:defRPr>
            </a:pPr>
            <a:r>
              <a:t>Prevent Special Characters entered in OL...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85811" y="3364992"/>
            <a:ext cx="2054291" cy="384048"/>
          </a:xfrm>
          <a:prstGeom prst="rect">
            <a:avLst/>
          </a:prstGeom>
          <a:solidFill>
            <a:srgbClr val="E6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831531" y="3383280"/>
            <a:ext cx="1962851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1D1D4D"/>
                </a:solidFill>
              </a:defRPr>
            </a:pPr>
            <a:r>
              <a:t>#34 MGS-13079</a:t>
            </a:r>
          </a:p>
          <a:p>
            <a:pPr>
              <a:defRPr sz="800">
                <a:solidFill>
                  <a:srgbClr val="5C5C7A"/>
                </a:solidFill>
              </a:defRPr>
            </a:pPr>
            <a:r>
              <a:t>Remove restriction on CC seeing property...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2982" y="1188720"/>
            <a:ext cx="2145731" cy="4572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D1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022982" y="1188720"/>
            <a:ext cx="2145731" cy="548640"/>
          </a:xfrm>
          <a:prstGeom prst="rect">
            <a:avLst/>
          </a:prstGeom>
          <a:solidFill>
            <a:srgbClr val="1D1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2982" y="1280160"/>
            <a:ext cx="2145731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SEPT</a:t>
            </a:r>
            <a:br/>
            <a:r>
              <a:t>5 items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68702" y="1828800"/>
            <a:ext cx="2054291" cy="384048"/>
          </a:xfrm>
          <a:prstGeom prst="rect">
            <a:avLst/>
          </a:prstGeom>
          <a:solidFill>
            <a:srgbClr val="E6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114422" y="1847088"/>
            <a:ext cx="1962851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1D1D4D"/>
                </a:solidFill>
              </a:defRPr>
            </a:pPr>
            <a:r>
              <a:t>#15 MGS-13098</a:t>
            </a:r>
          </a:p>
          <a:p>
            <a:pPr>
              <a:defRPr sz="800">
                <a:solidFill>
                  <a:srgbClr val="5C5C7A"/>
                </a:solidFill>
              </a:defRPr>
            </a:pPr>
            <a:r>
              <a:t>Increase levels of robot validation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68702" y="2212848"/>
            <a:ext cx="2054291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114422" y="2231136"/>
            <a:ext cx="1962851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1D1D4D"/>
                </a:solidFill>
              </a:defRPr>
            </a:pPr>
            <a:r>
              <a:t>#32 MGS-13105</a:t>
            </a:r>
          </a:p>
          <a:p>
            <a:pPr>
              <a:defRPr sz="800">
                <a:solidFill>
                  <a:srgbClr val="5C5C7A"/>
                </a:solidFill>
              </a:defRPr>
            </a:pPr>
            <a:r>
              <a:t>Robot to park data entry exceptions unti...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68702" y="2596896"/>
            <a:ext cx="2054291" cy="384048"/>
          </a:xfrm>
          <a:prstGeom prst="rect">
            <a:avLst/>
          </a:prstGeom>
          <a:solidFill>
            <a:srgbClr val="E6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114422" y="2615184"/>
            <a:ext cx="1962851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1D1D4D"/>
                </a:solidFill>
              </a:defRPr>
            </a:pPr>
            <a:r>
              <a:t>#35 MGS-13077</a:t>
            </a:r>
          </a:p>
          <a:p>
            <a:pPr>
              <a:defRPr sz="800">
                <a:solidFill>
                  <a:srgbClr val="5C5C7A"/>
                </a:solidFill>
              </a:defRPr>
            </a:pPr>
            <a:r>
              <a:t>Remove restriction on BDM seeing propert...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68702" y="2980944"/>
            <a:ext cx="2054291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114422" y="2999232"/>
            <a:ext cx="1962851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1D1D4D"/>
                </a:solidFill>
              </a:defRPr>
            </a:pPr>
            <a:r>
              <a:t>#39 MGS-13070</a:t>
            </a:r>
          </a:p>
          <a:p>
            <a:pPr>
              <a:defRPr sz="800">
                <a:solidFill>
                  <a:srgbClr val="5C5C7A"/>
                </a:solidFill>
              </a:defRPr>
            </a:pPr>
            <a:r>
              <a:t>Make case status visible in Case Tracker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68702" y="3364992"/>
            <a:ext cx="2054291" cy="384048"/>
          </a:xfrm>
          <a:prstGeom prst="rect">
            <a:avLst/>
          </a:prstGeom>
          <a:solidFill>
            <a:srgbClr val="E6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114422" y="3383280"/>
            <a:ext cx="1962851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1D1D4D"/>
                </a:solidFill>
              </a:defRPr>
            </a:pPr>
            <a:r>
              <a:t>#40 MGS-12827</a:t>
            </a:r>
          </a:p>
          <a:p>
            <a:pPr>
              <a:defRPr sz="800">
                <a:solidFill>
                  <a:srgbClr val="5C5C7A"/>
                </a:solidFill>
              </a:defRPr>
            </a:pPr>
            <a:r>
              <a:t>Remove Valuation Visibility Restrictions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305873" y="1188720"/>
            <a:ext cx="2145731" cy="4572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D1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05873" y="1188720"/>
            <a:ext cx="2145731" cy="548640"/>
          </a:xfrm>
          <a:prstGeom prst="rect">
            <a:avLst/>
          </a:prstGeom>
          <a:solidFill>
            <a:srgbClr val="1D1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305873" y="1280160"/>
            <a:ext cx="2145731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NOV</a:t>
            </a:r>
            <a:br/>
            <a:r>
              <a:t>2 items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351593" y="1828800"/>
            <a:ext cx="2054291" cy="384048"/>
          </a:xfrm>
          <a:prstGeom prst="rect">
            <a:avLst/>
          </a:prstGeom>
          <a:solidFill>
            <a:srgbClr val="E6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397313" y="1847088"/>
            <a:ext cx="1962851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1D1D4D"/>
                </a:solidFill>
              </a:defRPr>
            </a:pPr>
            <a:r>
              <a:t>#28 MGS-12832</a:t>
            </a:r>
          </a:p>
          <a:p>
            <a:pPr>
              <a:defRPr sz="800">
                <a:solidFill>
                  <a:srgbClr val="5C5C7A"/>
                </a:solidFill>
              </a:defRPr>
            </a:pPr>
            <a:r>
              <a:t>Existing Customer Online Application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351593" y="2212848"/>
            <a:ext cx="2054291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397313" y="2231136"/>
            <a:ext cx="1962851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1D1D4D"/>
                </a:solidFill>
              </a:defRPr>
            </a:pPr>
            <a:r>
              <a:t>#31 MGS-12831</a:t>
            </a:r>
          </a:p>
          <a:p>
            <a:pPr>
              <a:defRPr sz="800">
                <a:solidFill>
                  <a:srgbClr val="5C5C7A"/>
                </a:solidFill>
              </a:defRPr>
            </a:pPr>
            <a:r>
              <a:t>Worldpay to Global Pay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588764" y="1188720"/>
            <a:ext cx="2145731" cy="4572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D1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9588764" y="1188720"/>
            <a:ext cx="2145731" cy="548640"/>
          </a:xfrm>
          <a:prstGeom prst="rect">
            <a:avLst/>
          </a:prstGeom>
          <a:solidFill>
            <a:srgbClr val="1D1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588764" y="1280160"/>
            <a:ext cx="2145731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MAR 2027</a:t>
            </a:r>
            <a:br/>
            <a:r>
              <a:t>19 items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634484" y="1828800"/>
            <a:ext cx="2054291" cy="384048"/>
          </a:xfrm>
          <a:prstGeom prst="rect">
            <a:avLst/>
          </a:prstGeom>
          <a:solidFill>
            <a:srgbClr val="E6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680204" y="1847088"/>
            <a:ext cx="1962851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1D1D4D"/>
                </a:solidFill>
              </a:defRPr>
            </a:pPr>
            <a:r>
              <a:t>#4 MGS-13067</a:t>
            </a:r>
          </a:p>
          <a:p>
            <a:pPr>
              <a:defRPr sz="800">
                <a:solidFill>
                  <a:srgbClr val="5C5C7A"/>
                </a:solidFill>
              </a:defRPr>
            </a:pPr>
            <a:r>
              <a:t>Create new fields to identify Second/Hol...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634484" y="2212848"/>
            <a:ext cx="2054291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680204" y="2231136"/>
            <a:ext cx="1962851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1D1D4D"/>
                </a:solidFill>
              </a:defRPr>
            </a:pPr>
            <a:r>
              <a:t>#5 MGS-13066</a:t>
            </a:r>
          </a:p>
          <a:p>
            <a:pPr>
              <a:defRPr sz="800">
                <a:solidFill>
                  <a:srgbClr val="5C5C7A"/>
                </a:solidFill>
              </a:defRPr>
            </a:pPr>
            <a:r>
              <a:t>Create Variable Income fields and pass d...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634484" y="2596896"/>
            <a:ext cx="2054291" cy="384048"/>
          </a:xfrm>
          <a:prstGeom prst="rect">
            <a:avLst/>
          </a:prstGeom>
          <a:solidFill>
            <a:srgbClr val="E6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680204" y="2615184"/>
            <a:ext cx="1962851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1D1D4D"/>
                </a:solidFill>
              </a:defRPr>
            </a:pPr>
            <a:r>
              <a:t>#6 MGS-13062</a:t>
            </a:r>
          </a:p>
          <a:p>
            <a:pPr>
              <a:defRPr sz="800">
                <a:solidFill>
                  <a:srgbClr val="5C5C7A"/>
                </a:solidFill>
              </a:defRPr>
            </a:pPr>
            <a:r>
              <a:t>Create new fields for Joint Borrower Sol...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634484" y="2980944"/>
            <a:ext cx="2054291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680204" y="2999232"/>
            <a:ext cx="1962851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1D1D4D"/>
                </a:solidFill>
              </a:defRPr>
            </a:pPr>
            <a:r>
              <a:t>#8 MGS-13063</a:t>
            </a:r>
          </a:p>
          <a:p>
            <a:pPr>
              <a:defRPr sz="800">
                <a:solidFill>
                  <a:srgbClr val="5C5C7A"/>
                </a:solidFill>
              </a:defRPr>
            </a:pPr>
            <a:r>
              <a:t>Create additional fields for Self Employ...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634484" y="3364992"/>
            <a:ext cx="2054291" cy="384048"/>
          </a:xfrm>
          <a:prstGeom prst="rect">
            <a:avLst/>
          </a:prstGeom>
          <a:solidFill>
            <a:srgbClr val="E6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680204" y="3383280"/>
            <a:ext cx="1962851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1D1D4D"/>
                </a:solidFill>
              </a:defRPr>
            </a:pPr>
            <a:r>
              <a:t>#9 MGS-12823</a:t>
            </a:r>
          </a:p>
          <a:p>
            <a:pPr>
              <a:defRPr sz="800">
                <a:solidFill>
                  <a:srgbClr val="5C5C7A"/>
                </a:solidFill>
              </a:defRPr>
            </a:pPr>
            <a:r>
              <a:t>Create Secondary Income fields and pass ...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634484" y="3749040"/>
            <a:ext cx="2054291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680204" y="3767328"/>
            <a:ext cx="1962851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1D1D4D"/>
                </a:solidFill>
              </a:defRPr>
            </a:pPr>
            <a:r>
              <a:t>#18 MGS-13096</a:t>
            </a:r>
          </a:p>
          <a:p>
            <a:pPr>
              <a:defRPr sz="800">
                <a:solidFill>
                  <a:srgbClr val="5C5C7A"/>
                </a:solidFill>
              </a:defRPr>
            </a:pPr>
            <a:r>
              <a:t>Improve clarity of messages in post-docu...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634484" y="4133088"/>
            <a:ext cx="2054291" cy="384048"/>
          </a:xfrm>
          <a:prstGeom prst="rect">
            <a:avLst/>
          </a:prstGeom>
          <a:solidFill>
            <a:srgbClr val="E6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680204" y="4151376"/>
            <a:ext cx="1962851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1D1D4D"/>
                </a:solidFill>
              </a:defRPr>
            </a:pPr>
            <a:r>
              <a:t>#19 MGS-12841</a:t>
            </a:r>
          </a:p>
          <a:p>
            <a:pPr>
              <a:defRPr sz="800">
                <a:solidFill>
                  <a:srgbClr val="5C5C7A"/>
                </a:solidFill>
              </a:defRPr>
            </a:pPr>
            <a:r>
              <a:t>Replacement Mortgage Illustrator tool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634484" y="4517136"/>
            <a:ext cx="2054291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680204" y="4535424"/>
            <a:ext cx="1962851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1D1D4D"/>
                </a:solidFill>
              </a:defRPr>
            </a:pPr>
            <a:r>
              <a:t>#20 MGS-13092</a:t>
            </a:r>
          </a:p>
          <a:p>
            <a:pPr>
              <a:defRPr sz="800">
                <a:solidFill>
                  <a:srgbClr val="5C5C7A"/>
                </a:solidFill>
              </a:defRPr>
            </a:pPr>
            <a:r>
              <a:t>Add date of valuation to MAP chaser lett...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634484" y="4901184"/>
            <a:ext cx="2054291" cy="384048"/>
          </a:xfrm>
          <a:prstGeom prst="rect">
            <a:avLst/>
          </a:prstGeom>
          <a:solidFill>
            <a:srgbClr val="E6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680204" y="4919472"/>
            <a:ext cx="1962851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1D1D4D"/>
                </a:solidFill>
              </a:defRPr>
            </a:pPr>
            <a:r>
              <a:t>#21 MGS-13086</a:t>
            </a:r>
          </a:p>
          <a:p>
            <a:pPr>
              <a:defRPr sz="800">
                <a:solidFill>
                  <a:srgbClr val="5C5C7A"/>
                </a:solidFill>
              </a:defRPr>
            </a:pPr>
            <a:r>
              <a:t>Improve MAP email templates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634484" y="5285232"/>
            <a:ext cx="2054291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680204" y="5303520"/>
            <a:ext cx="1962851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1D1D4D"/>
                </a:solidFill>
              </a:defRPr>
            </a:pPr>
            <a:r>
              <a:t>#22 MGS-13083</a:t>
            </a:r>
          </a:p>
          <a:p>
            <a:pPr>
              <a:defRPr sz="800">
                <a:solidFill>
                  <a:srgbClr val="5C5C7A"/>
                </a:solidFill>
              </a:defRPr>
            </a:pPr>
            <a:r>
              <a:t>Improve wording of MAP chaser emails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588764" y="5440680"/>
            <a:ext cx="2145731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i="1">
                <a:solidFill>
                  <a:srgbClr val="5C5C7A"/>
                </a:solidFill>
              </a:defRPr>
            </a:pPr>
            <a:r>
              <a:t>+9 more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D1D4D"/>
                </a:solidFill>
              </a:defRPr>
            </a:pPr>
            <a:r>
              <a:t>Release: PHASE 2a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C5C7A"/>
                </a:solidFill>
              </a:defRPr>
            </a:pPr>
            <a:r>
              <a:t>Growth Phase 2a - 2 items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3657600" cy="640080"/>
          </a:xfrm>
          <a:prstGeom prst="roundRect">
            <a:avLst/>
          </a:prstGeom>
          <a:solidFill>
            <a:srgbClr val="E6EEF5"/>
          </a:solidFill>
          <a:ln w="12700">
            <a:solidFill>
              <a:srgbClr val="1D1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3657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D1D4D"/>
                </a:solidFill>
              </a:defRPr>
            </a:pPr>
            <a:r>
              <a:t>Case Segmentation: 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51960" y="1097280"/>
            <a:ext cx="3657600" cy="640080"/>
          </a:xfrm>
          <a:prstGeom prst="roundRect">
            <a:avLst/>
          </a:prstGeom>
          <a:solidFill>
            <a:srgbClr val="1D1D4D"/>
          </a:solidFill>
          <a:ln w="12700">
            <a:solidFill>
              <a:srgbClr val="1D1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51960" y="1188720"/>
            <a:ext cx="3657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Communications: 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097280"/>
            <a:ext cx="3657600" cy="640080"/>
          </a:xfrm>
          <a:prstGeom prst="roundRect">
            <a:avLst/>
          </a:prstGeom>
          <a:solidFill>
            <a:srgbClr val="1D1D4D"/>
          </a:solidFill>
          <a:ln w="12700">
            <a:solidFill>
              <a:srgbClr val="1D1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0" y="1188720"/>
            <a:ext cx="3657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Operational Efficiencies: 1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1920240"/>
          <a:ext cx="10698480" cy="9601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640080"/>
                <a:gridCol w="914400"/>
                <a:gridCol w="1828800"/>
                <a:gridCol w="6858000"/>
              </a:tblGrid>
              <a:tr h="320039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#</a:t>
                      </a:r>
                    </a:p>
                  </a:txBody>
                  <a:tcPr>
                    <a:solidFill>
                      <a:srgbClr val="1D1D4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WSJF</a:t>
                      </a:r>
                    </a:p>
                  </a:txBody>
                  <a:tcPr>
                    <a:solidFill>
                      <a:srgbClr val="1D1D4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Key</a:t>
                      </a:r>
                    </a:p>
                  </a:txBody>
                  <a:tcPr>
                    <a:solidFill>
                      <a:srgbClr val="1D1D4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Objective</a:t>
                      </a:r>
                    </a:p>
                  </a:txBody>
                  <a:tcPr>
                    <a:solidFill>
                      <a:srgbClr val="1D1D4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Summary</a:t>
                      </a:r>
                    </a:p>
                  </a:txBody>
                  <a:tcPr>
                    <a:solidFill>
                      <a:srgbClr val="1D1D4D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D1D4D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D1D4D"/>
                          </a:solidFill>
                        </a:defRPr>
                      </a:pPr>
                      <a:r>
                        <a:t>9.4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D1D4D"/>
                          </a:solidFill>
                        </a:defRPr>
                      </a:pPr>
                      <a:r>
                        <a:t>MGS-12826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D1D4D"/>
                          </a:solidFill>
                        </a:defRPr>
                      </a:pPr>
                      <a:r>
                        <a:t>Communications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D1D4D"/>
                          </a:solidFill>
                        </a:defRPr>
                      </a:pPr>
                      <a:r>
                        <a:t>Enhance OLBM document upload messaging for case types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1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D1D4D"/>
                          </a:solidFill>
                        </a:defRPr>
                      </a:pPr>
                      <a:r>
                        <a:t>13</a:t>
                      </a:r>
                    </a:p>
                  </a:txBody>
                  <a:tcPr>
                    <a:solidFill>
                      <a:srgbClr val="E6EE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D1D4D"/>
                          </a:solidFill>
                        </a:defRPr>
                      </a:pPr>
                      <a:r>
                        <a:t>6.0</a:t>
                      </a:r>
                    </a:p>
                  </a:txBody>
                  <a:tcPr>
                    <a:solidFill>
                      <a:srgbClr val="E6EE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D1D4D"/>
                          </a:solidFill>
                        </a:defRPr>
                      </a:pPr>
                      <a:r>
                        <a:t>MGS-12838</a:t>
                      </a:r>
                    </a:p>
                  </a:txBody>
                  <a:tcPr>
                    <a:solidFill>
                      <a:srgbClr val="E6EE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D1D4D"/>
                          </a:solidFill>
                        </a:defRPr>
                      </a:pPr>
                      <a:r>
                        <a:t>Operational Efficiencies</a:t>
                      </a:r>
                    </a:p>
                  </a:txBody>
                  <a:tcPr>
                    <a:solidFill>
                      <a:srgbClr val="E6EE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D1D4D"/>
                          </a:solidFill>
                        </a:defRPr>
                      </a:pPr>
                      <a:r>
                        <a:t>Phase 2a - Product fee and LTV Enhancements</a:t>
                      </a:r>
                    </a:p>
                  </a:txBody>
                  <a:tcPr>
                    <a:solidFill>
                      <a:srgbClr val="E6EE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D1D4D"/>
                </a:solidFill>
              </a:defRPr>
            </a:pPr>
            <a:r>
              <a:t>Release: JUNE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C5C7A"/>
                </a:solidFill>
              </a:defRPr>
            </a:pPr>
            <a:r>
              <a:t>Growth June Release - 5 items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3657600" cy="640080"/>
          </a:xfrm>
          <a:prstGeom prst="roundRect">
            <a:avLst/>
          </a:prstGeom>
          <a:solidFill>
            <a:srgbClr val="E6EEF5"/>
          </a:solidFill>
          <a:ln w="12700">
            <a:solidFill>
              <a:srgbClr val="1D1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3657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D1D4D"/>
                </a:solidFill>
              </a:defRPr>
            </a:pPr>
            <a:r>
              <a:t>Case Segmentation: 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51960" y="1097280"/>
            <a:ext cx="3657600" cy="640080"/>
          </a:xfrm>
          <a:prstGeom prst="roundRect">
            <a:avLst/>
          </a:prstGeom>
          <a:solidFill>
            <a:srgbClr val="1D1D4D"/>
          </a:solidFill>
          <a:ln w="12700">
            <a:solidFill>
              <a:srgbClr val="1D1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51960" y="1188720"/>
            <a:ext cx="3657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Communications: 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097280"/>
            <a:ext cx="3657600" cy="640080"/>
          </a:xfrm>
          <a:prstGeom prst="roundRect">
            <a:avLst/>
          </a:prstGeom>
          <a:solidFill>
            <a:srgbClr val="1D1D4D"/>
          </a:solidFill>
          <a:ln w="12700">
            <a:solidFill>
              <a:srgbClr val="1D1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0" y="1188720"/>
            <a:ext cx="3657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Operational Efficiencies: 4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1920240"/>
          <a:ext cx="10698480" cy="19202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640080"/>
                <a:gridCol w="914400"/>
                <a:gridCol w="1828800"/>
                <a:gridCol w="6858000"/>
              </a:tblGrid>
              <a:tr h="320039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#</a:t>
                      </a:r>
                    </a:p>
                  </a:txBody>
                  <a:tcPr>
                    <a:solidFill>
                      <a:srgbClr val="1D1D4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WSJF</a:t>
                      </a:r>
                    </a:p>
                  </a:txBody>
                  <a:tcPr>
                    <a:solidFill>
                      <a:srgbClr val="1D1D4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Key</a:t>
                      </a:r>
                    </a:p>
                  </a:txBody>
                  <a:tcPr>
                    <a:solidFill>
                      <a:srgbClr val="1D1D4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Objective</a:t>
                      </a:r>
                    </a:p>
                  </a:txBody>
                  <a:tcPr>
                    <a:solidFill>
                      <a:srgbClr val="1D1D4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Summary</a:t>
                      </a:r>
                    </a:p>
                  </a:txBody>
                  <a:tcPr>
                    <a:solidFill>
                      <a:srgbClr val="1D1D4D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D1D4D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D1D4D"/>
                          </a:solidFill>
                        </a:defRPr>
                      </a:pPr>
                      <a:r>
                        <a:t>8.0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D1D4D"/>
                          </a:solidFill>
                        </a:defRPr>
                      </a:pPr>
                      <a:r>
                        <a:t>MGS-12833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D1D4D"/>
                          </a:solidFill>
                        </a:defRPr>
                      </a:pPr>
                      <a:r>
                        <a:t>Operational Efficiencies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D1D4D"/>
                          </a:solidFill>
                        </a:defRPr>
                      </a:pPr>
                      <a:r>
                        <a:t>Enhance document upload capabilities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D1D4D"/>
                          </a:solidFill>
                        </a:defRPr>
                      </a:pPr>
                      <a:r>
                        <a:t>16</a:t>
                      </a:r>
                    </a:p>
                  </a:txBody>
                  <a:tcPr>
                    <a:solidFill>
                      <a:srgbClr val="E6EE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D1D4D"/>
                          </a:solidFill>
                        </a:defRPr>
                      </a:pPr>
                      <a:r>
                        <a:t>5.0</a:t>
                      </a:r>
                    </a:p>
                  </a:txBody>
                  <a:tcPr>
                    <a:solidFill>
                      <a:srgbClr val="E6EE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D1D4D"/>
                          </a:solidFill>
                        </a:defRPr>
                      </a:pPr>
                      <a:r>
                        <a:t>MGS-12830</a:t>
                      </a:r>
                    </a:p>
                  </a:txBody>
                  <a:tcPr>
                    <a:solidFill>
                      <a:srgbClr val="E6EE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D1D4D"/>
                          </a:solidFill>
                        </a:defRPr>
                      </a:pPr>
                      <a:r>
                        <a:t>Operational Efficiencies</a:t>
                      </a:r>
                    </a:p>
                  </a:txBody>
                  <a:tcPr>
                    <a:solidFill>
                      <a:srgbClr val="E6EE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D1D4D"/>
                          </a:solidFill>
                        </a:defRPr>
                      </a:pPr>
                      <a:r>
                        <a:t>DD Bank validation ESB Service</a:t>
                      </a:r>
                    </a:p>
                  </a:txBody>
                  <a:tcPr>
                    <a:solidFill>
                      <a:srgbClr val="E6EEF5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D1D4D"/>
                          </a:solidFill>
                        </a:defRPr>
                      </a:pPr>
                      <a:r>
                        <a:t>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D1D4D"/>
                          </a:solidFill>
                        </a:defRPr>
                      </a:pPr>
                      <a:r>
                        <a:t>2.8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D1D4D"/>
                          </a:solidFill>
                        </a:defRPr>
                      </a:pPr>
                      <a:r>
                        <a:t>MGS-12842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D1D4D"/>
                          </a:solidFill>
                        </a:defRPr>
                      </a:pPr>
                      <a:r>
                        <a:t>Operational Efficiencies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D1D4D"/>
                          </a:solidFill>
                        </a:defRPr>
                      </a:pPr>
                      <a:r>
                        <a:t>CRA enhancements - June target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D1D4D"/>
                          </a:solidFill>
                        </a:defRPr>
                      </a:pPr>
                      <a:r>
                        <a:t>33</a:t>
                      </a:r>
                    </a:p>
                  </a:txBody>
                  <a:tcPr>
                    <a:solidFill>
                      <a:srgbClr val="E6EE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D1D4D"/>
                          </a:solidFill>
                        </a:defRPr>
                      </a:pPr>
                      <a:r>
                        <a:t>1.6</a:t>
                      </a:r>
                    </a:p>
                  </a:txBody>
                  <a:tcPr>
                    <a:solidFill>
                      <a:srgbClr val="E6EE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D1D4D"/>
                          </a:solidFill>
                        </a:defRPr>
                      </a:pPr>
                      <a:r>
                        <a:t>MGS-13102</a:t>
                      </a:r>
                    </a:p>
                  </a:txBody>
                  <a:tcPr>
                    <a:solidFill>
                      <a:srgbClr val="E6EE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D1D4D"/>
                          </a:solidFill>
                        </a:defRPr>
                      </a:pPr>
                      <a:r>
                        <a:t>Operational Efficiencies</a:t>
                      </a:r>
                    </a:p>
                  </a:txBody>
                  <a:tcPr>
                    <a:solidFill>
                      <a:srgbClr val="E6EE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D1D4D"/>
                          </a:solidFill>
                        </a:defRPr>
                      </a:pPr>
                      <a:r>
                        <a:t>Prevent Special Characters entered in OLBM causing robots to...</a:t>
                      </a:r>
                    </a:p>
                  </a:txBody>
                  <a:tcPr>
                    <a:solidFill>
                      <a:srgbClr val="E6EEF5"/>
                    </a:solidFill>
                  </a:tcPr>
                </a:tc>
              </a:tr>
              <a:tr h="320044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D1D4D"/>
                          </a:solidFill>
                        </a:defRPr>
                      </a:pPr>
                      <a:r>
                        <a:t>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D1D4D"/>
                          </a:solidFill>
                        </a:defRPr>
                      </a:pPr>
                      <a:r>
                        <a:t>1.6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D1D4D"/>
                          </a:solidFill>
                        </a:defRPr>
                      </a:pPr>
                      <a:r>
                        <a:t>MGS-13079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D1D4D"/>
                          </a:solidFill>
                        </a:defRPr>
                      </a:pPr>
                      <a:r>
                        <a:t>Communications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D1D4D"/>
                          </a:solidFill>
                        </a:defRPr>
                      </a:pPr>
                      <a:r>
                        <a:t>Remove restriction on CC seeing property valuation details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D1D4D"/>
                </a:solidFill>
              </a:defRPr>
            </a:pPr>
            <a:r>
              <a:t>Release: SEPT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C5C7A"/>
                </a:solidFill>
              </a:defRPr>
            </a:pPr>
            <a:r>
              <a:t>Growth September Release - 5 items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3657600" cy="640080"/>
          </a:xfrm>
          <a:prstGeom prst="roundRect">
            <a:avLst/>
          </a:prstGeom>
          <a:solidFill>
            <a:srgbClr val="E6EEF5"/>
          </a:solidFill>
          <a:ln w="12700">
            <a:solidFill>
              <a:srgbClr val="1D1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3657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D1D4D"/>
                </a:solidFill>
              </a:defRPr>
            </a:pPr>
            <a:r>
              <a:t>Case Segmentation: 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51960" y="1097280"/>
            <a:ext cx="3657600" cy="640080"/>
          </a:xfrm>
          <a:prstGeom prst="roundRect">
            <a:avLst/>
          </a:prstGeom>
          <a:solidFill>
            <a:srgbClr val="1D1D4D"/>
          </a:solidFill>
          <a:ln w="12700">
            <a:solidFill>
              <a:srgbClr val="1D1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51960" y="1188720"/>
            <a:ext cx="3657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Communications: 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097280"/>
            <a:ext cx="3657600" cy="640080"/>
          </a:xfrm>
          <a:prstGeom prst="roundRect">
            <a:avLst/>
          </a:prstGeom>
          <a:solidFill>
            <a:srgbClr val="1D1D4D"/>
          </a:solidFill>
          <a:ln w="12700">
            <a:solidFill>
              <a:srgbClr val="1D1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0" y="1188720"/>
            <a:ext cx="3657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Operational Efficiencies: 2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1920240"/>
          <a:ext cx="10698480" cy="19202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640080"/>
                <a:gridCol w="914400"/>
                <a:gridCol w="1828800"/>
                <a:gridCol w="6858000"/>
              </a:tblGrid>
              <a:tr h="320039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#</a:t>
                      </a:r>
                    </a:p>
                  </a:txBody>
                  <a:tcPr>
                    <a:solidFill>
                      <a:srgbClr val="1D1D4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WSJF</a:t>
                      </a:r>
                    </a:p>
                  </a:txBody>
                  <a:tcPr>
                    <a:solidFill>
                      <a:srgbClr val="1D1D4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Key</a:t>
                      </a:r>
                    </a:p>
                  </a:txBody>
                  <a:tcPr>
                    <a:solidFill>
                      <a:srgbClr val="1D1D4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Objective</a:t>
                      </a:r>
                    </a:p>
                  </a:txBody>
                  <a:tcPr>
                    <a:solidFill>
                      <a:srgbClr val="1D1D4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Summary</a:t>
                      </a:r>
                    </a:p>
                  </a:txBody>
                  <a:tcPr>
                    <a:solidFill>
                      <a:srgbClr val="1D1D4D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D1D4D"/>
                          </a:solidFill>
                        </a:defRPr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D1D4D"/>
                          </a:solidFill>
                        </a:defRPr>
                      </a:pPr>
                      <a:r>
                        <a:t>5.2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D1D4D"/>
                          </a:solidFill>
                        </a:defRPr>
                      </a:pPr>
                      <a:r>
                        <a:t>MGS-13098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D1D4D"/>
                          </a:solidFill>
                        </a:defRPr>
                      </a:pPr>
                      <a:r>
                        <a:t>Operational Efficiencies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D1D4D"/>
                          </a:solidFill>
                        </a:defRPr>
                      </a:pPr>
                      <a:r>
                        <a:t>Increase levels of robot validation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D1D4D"/>
                          </a:solidFill>
                        </a:defRPr>
                      </a:pPr>
                      <a:r>
                        <a:t>32</a:t>
                      </a:r>
                    </a:p>
                  </a:txBody>
                  <a:tcPr>
                    <a:solidFill>
                      <a:srgbClr val="E6EE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D1D4D"/>
                          </a:solidFill>
                        </a:defRPr>
                      </a:pPr>
                      <a:r>
                        <a:t>1.9</a:t>
                      </a:r>
                    </a:p>
                  </a:txBody>
                  <a:tcPr>
                    <a:solidFill>
                      <a:srgbClr val="E6EE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D1D4D"/>
                          </a:solidFill>
                        </a:defRPr>
                      </a:pPr>
                      <a:r>
                        <a:t>MGS-13105</a:t>
                      </a:r>
                    </a:p>
                  </a:txBody>
                  <a:tcPr>
                    <a:solidFill>
                      <a:srgbClr val="E6EE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D1D4D"/>
                          </a:solidFill>
                        </a:defRPr>
                      </a:pPr>
                      <a:r>
                        <a:t>Operational Efficiencies</a:t>
                      </a:r>
                    </a:p>
                  </a:txBody>
                  <a:tcPr>
                    <a:solidFill>
                      <a:srgbClr val="E6EE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D1D4D"/>
                          </a:solidFill>
                        </a:defRPr>
                      </a:pPr>
                      <a:r>
                        <a:t>Robot to park data entry exceptions until all acceptable dat...</a:t>
                      </a:r>
                    </a:p>
                  </a:txBody>
                  <a:tcPr>
                    <a:solidFill>
                      <a:srgbClr val="E6EEF5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D1D4D"/>
                          </a:solidFill>
                        </a:defRPr>
                      </a:pPr>
                      <a:r>
                        <a:t>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D1D4D"/>
                          </a:solidFill>
                        </a:defRPr>
                      </a:pPr>
                      <a:r>
                        <a:t>1.6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D1D4D"/>
                          </a:solidFill>
                        </a:defRPr>
                      </a:pPr>
                      <a:r>
                        <a:t>MGS-13077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D1D4D"/>
                          </a:solidFill>
                        </a:defRPr>
                      </a:pPr>
                      <a:r>
                        <a:t>Communications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D1D4D"/>
                          </a:solidFill>
                        </a:defRPr>
                      </a:pPr>
                      <a:r>
                        <a:t>Remove restriction on BDM seeing property valuation details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D1D4D"/>
                          </a:solidFill>
                        </a:defRPr>
                      </a:pPr>
                      <a:r>
                        <a:t>39</a:t>
                      </a:r>
                    </a:p>
                  </a:txBody>
                  <a:tcPr>
                    <a:solidFill>
                      <a:srgbClr val="E6EE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D1D4D"/>
                          </a:solidFill>
                        </a:defRPr>
                      </a:pPr>
                      <a:r>
                        <a:t>0.8</a:t>
                      </a:r>
                    </a:p>
                  </a:txBody>
                  <a:tcPr>
                    <a:solidFill>
                      <a:srgbClr val="E6EE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D1D4D"/>
                          </a:solidFill>
                        </a:defRPr>
                      </a:pPr>
                      <a:r>
                        <a:t>MGS-13070</a:t>
                      </a:r>
                    </a:p>
                  </a:txBody>
                  <a:tcPr>
                    <a:solidFill>
                      <a:srgbClr val="E6EE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D1D4D"/>
                          </a:solidFill>
                        </a:defRPr>
                      </a:pPr>
                      <a:r>
                        <a:t>Communications</a:t>
                      </a:r>
                    </a:p>
                  </a:txBody>
                  <a:tcPr>
                    <a:solidFill>
                      <a:srgbClr val="E6EE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D1D4D"/>
                          </a:solidFill>
                        </a:defRPr>
                      </a:pPr>
                      <a:r>
                        <a:t>Make case status visible in Case Tracker</a:t>
                      </a:r>
                    </a:p>
                  </a:txBody>
                  <a:tcPr>
                    <a:solidFill>
                      <a:srgbClr val="E6EEF5"/>
                    </a:solidFill>
                  </a:tcPr>
                </a:tc>
              </a:tr>
              <a:tr h="320044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D1D4D"/>
                          </a:solidFill>
                        </a:defRPr>
                      </a:pPr>
                      <a:r>
                        <a:t>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D1D4D"/>
                          </a:solidFill>
                        </a:defRPr>
                      </a:pPr>
                      <a:r>
                        <a:t>0.8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D1D4D"/>
                          </a:solidFill>
                        </a:defRPr>
                      </a:pPr>
                      <a:r>
                        <a:t>MGS-12827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D1D4D"/>
                          </a:solidFill>
                        </a:defRPr>
                      </a:pPr>
                      <a:r>
                        <a:t>Communications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D1D4D"/>
                          </a:solidFill>
                        </a:defRPr>
                      </a:pPr>
                      <a:r>
                        <a:t>Remove Valuation Visibility Restrictions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D1D4D"/>
                </a:solidFill>
              </a:defRPr>
            </a:pPr>
            <a:r>
              <a:t>Release: NOV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C5C7A"/>
                </a:solidFill>
              </a:defRPr>
            </a:pPr>
            <a:r>
              <a:t>Growth November Release - 2 items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3657600" cy="640080"/>
          </a:xfrm>
          <a:prstGeom prst="roundRect">
            <a:avLst/>
          </a:prstGeom>
          <a:solidFill>
            <a:srgbClr val="E6EEF5"/>
          </a:solidFill>
          <a:ln w="12700">
            <a:solidFill>
              <a:srgbClr val="1D1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3657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D1D4D"/>
                </a:solidFill>
              </a:defRPr>
            </a:pPr>
            <a:r>
              <a:t>Case Segmentation: 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51960" y="1097280"/>
            <a:ext cx="3657600" cy="640080"/>
          </a:xfrm>
          <a:prstGeom prst="roundRect">
            <a:avLst/>
          </a:prstGeom>
          <a:solidFill>
            <a:srgbClr val="E6EEF5"/>
          </a:solidFill>
          <a:ln w="12700">
            <a:solidFill>
              <a:srgbClr val="1D1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51960" y="1188720"/>
            <a:ext cx="3657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D1D4D"/>
                </a:solidFill>
              </a:defRPr>
            </a:pPr>
            <a:r>
              <a:t>Communications: 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097280"/>
            <a:ext cx="3657600" cy="640080"/>
          </a:xfrm>
          <a:prstGeom prst="roundRect">
            <a:avLst/>
          </a:prstGeom>
          <a:solidFill>
            <a:srgbClr val="1D1D4D"/>
          </a:solidFill>
          <a:ln w="12700">
            <a:solidFill>
              <a:srgbClr val="1D1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0" y="1188720"/>
            <a:ext cx="3657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Operational Efficiencies: 2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1920240"/>
          <a:ext cx="10698480" cy="9601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640080"/>
                <a:gridCol w="914400"/>
                <a:gridCol w="1828800"/>
                <a:gridCol w="6858000"/>
              </a:tblGrid>
              <a:tr h="320039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#</a:t>
                      </a:r>
                    </a:p>
                  </a:txBody>
                  <a:tcPr>
                    <a:solidFill>
                      <a:srgbClr val="1D1D4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WSJF</a:t>
                      </a:r>
                    </a:p>
                  </a:txBody>
                  <a:tcPr>
                    <a:solidFill>
                      <a:srgbClr val="1D1D4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Key</a:t>
                      </a:r>
                    </a:p>
                  </a:txBody>
                  <a:tcPr>
                    <a:solidFill>
                      <a:srgbClr val="1D1D4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Objective</a:t>
                      </a:r>
                    </a:p>
                  </a:txBody>
                  <a:tcPr>
                    <a:solidFill>
                      <a:srgbClr val="1D1D4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Summary</a:t>
                      </a:r>
                    </a:p>
                  </a:txBody>
                  <a:tcPr>
                    <a:solidFill>
                      <a:srgbClr val="1D1D4D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D1D4D"/>
                          </a:solidFill>
                        </a:defRPr>
                      </a:pPr>
                      <a:r>
                        <a:t>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D1D4D"/>
                          </a:solidFill>
                        </a:defRPr>
                      </a:pPr>
                      <a:r>
                        <a:t>2.4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D1D4D"/>
                          </a:solidFill>
                        </a:defRPr>
                      </a:pPr>
                      <a:r>
                        <a:t>MGS-12832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D1D4D"/>
                          </a:solidFill>
                        </a:defRPr>
                      </a:pPr>
                      <a:r>
                        <a:t>Operational Efficiencies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D1D4D"/>
                          </a:solidFill>
                        </a:defRPr>
                      </a:pPr>
                      <a:r>
                        <a:t>Existing Customer Online Application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1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D1D4D"/>
                          </a:solidFill>
                        </a:defRPr>
                      </a:pPr>
                      <a:r>
                        <a:t>31</a:t>
                      </a:r>
                    </a:p>
                  </a:txBody>
                  <a:tcPr>
                    <a:solidFill>
                      <a:srgbClr val="E6EE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D1D4D"/>
                          </a:solidFill>
                        </a:defRPr>
                      </a:pPr>
                      <a:r>
                        <a:t>2.0</a:t>
                      </a:r>
                    </a:p>
                  </a:txBody>
                  <a:tcPr>
                    <a:solidFill>
                      <a:srgbClr val="E6EE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D1D4D"/>
                          </a:solidFill>
                        </a:defRPr>
                      </a:pPr>
                      <a:r>
                        <a:t>MGS-12831</a:t>
                      </a:r>
                    </a:p>
                  </a:txBody>
                  <a:tcPr>
                    <a:solidFill>
                      <a:srgbClr val="E6EE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D1D4D"/>
                          </a:solidFill>
                        </a:defRPr>
                      </a:pPr>
                      <a:r>
                        <a:t>Operational Efficiencies</a:t>
                      </a:r>
                    </a:p>
                  </a:txBody>
                  <a:tcPr>
                    <a:solidFill>
                      <a:srgbClr val="E6EE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D1D4D"/>
                          </a:solidFill>
                        </a:defRPr>
                      </a:pPr>
                      <a:r>
                        <a:t>Worldpay to Global Pay</a:t>
                      </a:r>
                    </a:p>
                  </a:txBody>
                  <a:tcPr>
                    <a:solidFill>
                      <a:srgbClr val="E6EE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D1D4D"/>
                </a:solidFill>
              </a:defRPr>
            </a:pPr>
            <a:r>
              <a:t>Release: MAR 2027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C5C7A"/>
                </a:solidFill>
              </a:defRPr>
            </a:pPr>
            <a:r>
              <a:t>Growth 2027 Release - 19 items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3657600" cy="640080"/>
          </a:xfrm>
          <a:prstGeom prst="roundRect">
            <a:avLst/>
          </a:prstGeom>
          <a:solidFill>
            <a:srgbClr val="1D1D4D"/>
          </a:solidFill>
          <a:ln w="12700">
            <a:solidFill>
              <a:srgbClr val="1D1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3657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Case Segmentation: 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51960" y="1097280"/>
            <a:ext cx="3657600" cy="640080"/>
          </a:xfrm>
          <a:prstGeom prst="roundRect">
            <a:avLst/>
          </a:prstGeom>
          <a:solidFill>
            <a:srgbClr val="1D1D4D"/>
          </a:solidFill>
          <a:ln w="12700">
            <a:solidFill>
              <a:srgbClr val="1D1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51960" y="1188720"/>
            <a:ext cx="3657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Communications: 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097280"/>
            <a:ext cx="3657600" cy="640080"/>
          </a:xfrm>
          <a:prstGeom prst="roundRect">
            <a:avLst/>
          </a:prstGeom>
          <a:solidFill>
            <a:srgbClr val="1D1D4D"/>
          </a:solidFill>
          <a:ln w="12700">
            <a:solidFill>
              <a:srgbClr val="1D1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0" y="1188720"/>
            <a:ext cx="3657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Operational Efficiencies: 6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1920240"/>
          <a:ext cx="10698480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640080"/>
                <a:gridCol w="914400"/>
                <a:gridCol w="1828800"/>
                <a:gridCol w="6858000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#</a:t>
                      </a:r>
                    </a:p>
                  </a:txBody>
                  <a:tcPr>
                    <a:solidFill>
                      <a:srgbClr val="1D1D4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WSJF</a:t>
                      </a:r>
                    </a:p>
                  </a:txBody>
                  <a:tcPr>
                    <a:solidFill>
                      <a:srgbClr val="1D1D4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Key</a:t>
                      </a:r>
                    </a:p>
                  </a:txBody>
                  <a:tcPr>
                    <a:solidFill>
                      <a:srgbClr val="1D1D4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Objective</a:t>
                      </a:r>
                    </a:p>
                  </a:txBody>
                  <a:tcPr>
                    <a:solidFill>
                      <a:srgbClr val="1D1D4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Summary</a:t>
                      </a:r>
                    </a:p>
                  </a:txBody>
                  <a:tcPr>
                    <a:solidFill>
                      <a:srgbClr val="1D1D4D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D1D4D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D1D4D"/>
                          </a:solidFill>
                        </a:defRPr>
                      </a:pPr>
                      <a:r>
                        <a:t>8.0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D1D4D"/>
                          </a:solidFill>
                        </a:defRPr>
                      </a:pPr>
                      <a:r>
                        <a:t>MGS-13067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D1D4D"/>
                          </a:solidFill>
                        </a:defRPr>
                      </a:pPr>
                      <a:r>
                        <a:t>Case Segmentation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D1D4D"/>
                          </a:solidFill>
                        </a:defRPr>
                      </a:pPr>
                      <a:r>
                        <a:t>Create new fields to identify Second/Holiday Home's and pass...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D1D4D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E6EE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D1D4D"/>
                          </a:solidFill>
                        </a:defRPr>
                      </a:pPr>
                      <a:r>
                        <a:t>8.0</a:t>
                      </a:r>
                    </a:p>
                  </a:txBody>
                  <a:tcPr>
                    <a:solidFill>
                      <a:srgbClr val="E6EE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D1D4D"/>
                          </a:solidFill>
                        </a:defRPr>
                      </a:pPr>
                      <a:r>
                        <a:t>MGS-13066</a:t>
                      </a:r>
                    </a:p>
                  </a:txBody>
                  <a:tcPr>
                    <a:solidFill>
                      <a:srgbClr val="E6EE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D1D4D"/>
                          </a:solidFill>
                        </a:defRPr>
                      </a:pPr>
                      <a:r>
                        <a:t>Case Segmentation</a:t>
                      </a:r>
                    </a:p>
                  </a:txBody>
                  <a:tcPr>
                    <a:solidFill>
                      <a:srgbClr val="E6EE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D1D4D"/>
                          </a:solidFill>
                        </a:defRPr>
                      </a:pPr>
                      <a:r>
                        <a:t>Create Variable Income fields and pass data to PCO</a:t>
                      </a:r>
                    </a:p>
                  </a:txBody>
                  <a:tcPr>
                    <a:solidFill>
                      <a:srgbClr val="E6EEF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D1D4D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D1D4D"/>
                          </a:solidFill>
                        </a:defRPr>
                      </a:pPr>
                      <a:r>
                        <a:t>8.0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D1D4D"/>
                          </a:solidFill>
                        </a:defRPr>
                      </a:pPr>
                      <a:r>
                        <a:t>MGS-13062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D1D4D"/>
                          </a:solidFill>
                        </a:defRPr>
                      </a:pPr>
                      <a:r>
                        <a:t>Case Segmentation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D1D4D"/>
                          </a:solidFill>
                        </a:defRPr>
                      </a:pPr>
                      <a:r>
                        <a:t>Create new fields for Joint Borrower Sole Owner cases and pa...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D1D4D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E6EE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D1D4D"/>
                          </a:solidFill>
                        </a:defRPr>
                      </a:pPr>
                      <a:r>
                        <a:t>7.4</a:t>
                      </a:r>
                    </a:p>
                  </a:txBody>
                  <a:tcPr>
                    <a:solidFill>
                      <a:srgbClr val="E6EE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D1D4D"/>
                          </a:solidFill>
                        </a:defRPr>
                      </a:pPr>
                      <a:r>
                        <a:t>MGS-13063</a:t>
                      </a:r>
                    </a:p>
                  </a:txBody>
                  <a:tcPr>
                    <a:solidFill>
                      <a:srgbClr val="E6EE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D1D4D"/>
                          </a:solidFill>
                        </a:defRPr>
                      </a:pPr>
                      <a:r>
                        <a:t>Case Segmentation</a:t>
                      </a:r>
                    </a:p>
                  </a:txBody>
                  <a:tcPr>
                    <a:solidFill>
                      <a:srgbClr val="E6EE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D1D4D"/>
                          </a:solidFill>
                        </a:defRPr>
                      </a:pPr>
                      <a:r>
                        <a:t>Create additional fields for Self Employed (Main Income)</a:t>
                      </a:r>
                    </a:p>
                  </a:txBody>
                  <a:tcPr>
                    <a:solidFill>
                      <a:srgbClr val="E6EEF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D1D4D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D1D4D"/>
                          </a:solidFill>
                        </a:defRPr>
                      </a:pPr>
                      <a:r>
                        <a:t>7.4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D1D4D"/>
                          </a:solidFill>
                        </a:defRPr>
                      </a:pPr>
                      <a:r>
                        <a:t>MGS-12823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D1D4D"/>
                          </a:solidFill>
                        </a:defRPr>
                      </a:pPr>
                      <a:r>
                        <a:t>Case Segmentation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D1D4D"/>
                          </a:solidFill>
                        </a:defRPr>
                      </a:pPr>
                      <a:r>
                        <a:t>Create Secondary Income fields and pass to PCO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D1D4D"/>
                          </a:solidFill>
                        </a:defRPr>
                      </a:pPr>
                      <a:r>
                        <a:t>18</a:t>
                      </a:r>
                    </a:p>
                  </a:txBody>
                  <a:tcPr>
                    <a:solidFill>
                      <a:srgbClr val="E6EE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D1D4D"/>
                          </a:solidFill>
                        </a:defRPr>
                      </a:pPr>
                      <a:r>
                        <a:t>3.8</a:t>
                      </a:r>
                    </a:p>
                  </a:txBody>
                  <a:tcPr>
                    <a:solidFill>
                      <a:srgbClr val="E6EE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D1D4D"/>
                          </a:solidFill>
                        </a:defRPr>
                      </a:pPr>
                      <a:r>
                        <a:t>MGS-13096</a:t>
                      </a:r>
                    </a:p>
                  </a:txBody>
                  <a:tcPr>
                    <a:solidFill>
                      <a:srgbClr val="E6EE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D1D4D"/>
                          </a:solidFill>
                        </a:defRPr>
                      </a:pPr>
                      <a:r>
                        <a:t>Communications</a:t>
                      </a:r>
                    </a:p>
                  </a:txBody>
                  <a:tcPr>
                    <a:solidFill>
                      <a:srgbClr val="E6EE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D1D4D"/>
                          </a:solidFill>
                        </a:defRPr>
                      </a:pPr>
                      <a:r>
                        <a:t>Improve clarity of messages in post-document review emails</a:t>
                      </a:r>
                    </a:p>
                  </a:txBody>
                  <a:tcPr>
                    <a:solidFill>
                      <a:srgbClr val="E6EEF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D1D4D"/>
                          </a:solidFill>
                        </a:defRPr>
                      </a:pPr>
                      <a:r>
                        <a:t>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D1D4D"/>
                          </a:solidFill>
                        </a:defRPr>
                      </a:pPr>
                      <a:r>
                        <a:t>3.4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D1D4D"/>
                          </a:solidFill>
                        </a:defRPr>
                      </a:pPr>
                      <a:r>
                        <a:t>MGS-12841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D1D4D"/>
                          </a:solidFill>
                        </a:defRPr>
                      </a:pPr>
                      <a:r>
                        <a:t>Operational Efficiencies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D1D4D"/>
                          </a:solidFill>
                        </a:defRPr>
                      </a:pPr>
                      <a:r>
                        <a:t>Replacement Mortgage Illustrator tool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D1D4D"/>
                          </a:solidFill>
                        </a:defRPr>
                      </a:pPr>
                      <a:r>
                        <a:t>20</a:t>
                      </a:r>
                    </a:p>
                  </a:txBody>
                  <a:tcPr>
                    <a:solidFill>
                      <a:srgbClr val="E6EE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D1D4D"/>
                          </a:solidFill>
                        </a:defRPr>
                      </a:pPr>
                      <a:r>
                        <a:t>3.2</a:t>
                      </a:r>
                    </a:p>
                  </a:txBody>
                  <a:tcPr>
                    <a:solidFill>
                      <a:srgbClr val="E6EE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D1D4D"/>
                          </a:solidFill>
                        </a:defRPr>
                      </a:pPr>
                      <a:r>
                        <a:t>MGS-13092</a:t>
                      </a:r>
                    </a:p>
                  </a:txBody>
                  <a:tcPr>
                    <a:solidFill>
                      <a:srgbClr val="E6EE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D1D4D"/>
                          </a:solidFill>
                        </a:defRPr>
                      </a:pPr>
                      <a:r>
                        <a:t>Communications</a:t>
                      </a:r>
                    </a:p>
                  </a:txBody>
                  <a:tcPr>
                    <a:solidFill>
                      <a:srgbClr val="E6EE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D1D4D"/>
                          </a:solidFill>
                        </a:defRPr>
                      </a:pPr>
                      <a:r>
                        <a:t>Add date of valuation to MAP chaser letter</a:t>
                      </a:r>
                    </a:p>
                  </a:txBody>
                  <a:tcPr>
                    <a:solidFill>
                      <a:srgbClr val="E6EEF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D1D4D"/>
                          </a:solidFill>
                        </a:defRPr>
                      </a:pPr>
                      <a:r>
                        <a:t>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D1D4D"/>
                          </a:solidFill>
                        </a:defRPr>
                      </a:pPr>
                      <a:r>
                        <a:t>3.2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D1D4D"/>
                          </a:solidFill>
                        </a:defRPr>
                      </a:pPr>
                      <a:r>
                        <a:t>MGS-13086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D1D4D"/>
                          </a:solidFill>
                        </a:defRPr>
                      </a:pPr>
                      <a:r>
                        <a:t>Communications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D1D4D"/>
                          </a:solidFill>
                        </a:defRPr>
                      </a:pPr>
                      <a:r>
                        <a:t>Improve MAP email templates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D1D4D"/>
                          </a:solidFill>
                        </a:defRPr>
                      </a:pPr>
                      <a:r>
                        <a:t>22</a:t>
                      </a:r>
                    </a:p>
                  </a:txBody>
                  <a:tcPr>
                    <a:solidFill>
                      <a:srgbClr val="E6EE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D1D4D"/>
                          </a:solidFill>
                        </a:defRPr>
                      </a:pPr>
                      <a:r>
                        <a:t>3.2</a:t>
                      </a:r>
                    </a:p>
                  </a:txBody>
                  <a:tcPr>
                    <a:solidFill>
                      <a:srgbClr val="E6EE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D1D4D"/>
                          </a:solidFill>
                        </a:defRPr>
                      </a:pPr>
                      <a:r>
                        <a:t>MGS-13083</a:t>
                      </a:r>
                    </a:p>
                  </a:txBody>
                  <a:tcPr>
                    <a:solidFill>
                      <a:srgbClr val="E6EE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D1D4D"/>
                          </a:solidFill>
                        </a:defRPr>
                      </a:pPr>
                      <a:r>
                        <a:t>Communications</a:t>
                      </a:r>
                    </a:p>
                  </a:txBody>
                  <a:tcPr>
                    <a:solidFill>
                      <a:srgbClr val="E6EE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D1D4D"/>
                          </a:solidFill>
                        </a:defRPr>
                      </a:pPr>
                      <a:r>
                        <a:t>Improve wording of MAP chaser emails</a:t>
                      </a:r>
                    </a:p>
                  </a:txBody>
                  <a:tcPr>
                    <a:solidFill>
                      <a:srgbClr val="E6EEF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D1D4D"/>
                          </a:solidFill>
                        </a:defRPr>
                      </a:pPr>
                      <a:r>
                        <a:t>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D1D4D"/>
                          </a:solidFill>
                        </a:defRPr>
                      </a:pPr>
                      <a:r>
                        <a:t>3.2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D1D4D"/>
                          </a:solidFill>
                        </a:defRPr>
                      </a:pPr>
                      <a:r>
                        <a:t>MGS-13073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D1D4D"/>
                          </a:solidFill>
                        </a:defRPr>
                      </a:pPr>
                      <a:r>
                        <a:t>Communications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D1D4D"/>
                          </a:solidFill>
                        </a:defRPr>
                      </a:pPr>
                      <a:r>
                        <a:t>Make offer status and timescales visible in OLBM and MAP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D1D4D"/>
                          </a:solidFill>
                        </a:defRPr>
                      </a:pPr>
                      <a:r>
                        <a:t>25</a:t>
                      </a:r>
                    </a:p>
                  </a:txBody>
                  <a:tcPr>
                    <a:solidFill>
                      <a:srgbClr val="E6EE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D1D4D"/>
                          </a:solidFill>
                        </a:defRPr>
                      </a:pPr>
                      <a:r>
                        <a:t>2.8</a:t>
                      </a:r>
                    </a:p>
                  </a:txBody>
                  <a:tcPr>
                    <a:solidFill>
                      <a:srgbClr val="E6EE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D1D4D"/>
                          </a:solidFill>
                        </a:defRPr>
                      </a:pPr>
                      <a:r>
                        <a:t>MGS-12839</a:t>
                      </a:r>
                    </a:p>
                  </a:txBody>
                  <a:tcPr>
                    <a:solidFill>
                      <a:srgbClr val="E6EE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D1D4D"/>
                          </a:solidFill>
                        </a:defRPr>
                      </a:pPr>
                      <a:r>
                        <a:t>Operational Efficiencies</a:t>
                      </a:r>
                    </a:p>
                  </a:txBody>
                  <a:tcPr>
                    <a:solidFill>
                      <a:srgbClr val="E6EE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D1D4D"/>
                          </a:solidFill>
                        </a:defRPr>
                      </a:pPr>
                      <a:r>
                        <a:t>Reduce AIP Queries to Underwriters</a:t>
                      </a:r>
                    </a:p>
                  </a:txBody>
                  <a:tcPr>
                    <a:solidFill>
                      <a:srgbClr val="E6EEF5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57200" y="621792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5C5C7A"/>
                </a:solidFill>
              </a:defRPr>
            </a:pPr>
            <a:r>
              <a:t>+ 7 more items - see Jira for full list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